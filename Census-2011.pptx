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6" r:id="rId12"/>
    <p:sldId id="287" r:id="rId13"/>
    <p:sldId id="288" r:id="rId14"/>
    <p:sldId id="289"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4/24/2024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4/24/2024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593BC-CAFB-9BC9-E6DC-79CE0323AD40}"/>
              </a:ext>
            </a:extLst>
          </p:cNvPr>
          <p:cNvSpPr>
            <a:spLocks noGrp="1"/>
          </p:cNvSpPr>
          <p:nvPr>
            <p:ph type="ctrTitle"/>
          </p:nvPr>
        </p:nvSpPr>
        <p:spPr/>
        <p:txBody>
          <a:bodyPr/>
          <a:lstStyle/>
          <a:p>
            <a:r>
              <a:rPr lang="en-GB" dirty="0"/>
              <a:t>Census-2011</a:t>
            </a:r>
            <a:endParaRPr lang="en-IN" dirty="0"/>
          </a:p>
        </p:txBody>
      </p:sp>
      <p:sp>
        <p:nvSpPr>
          <p:cNvPr id="3" name="Subtitle 2">
            <a:extLst>
              <a:ext uri="{FF2B5EF4-FFF2-40B4-BE49-F238E27FC236}">
                <a16:creationId xmlns:a16="http://schemas.microsoft.com/office/drawing/2014/main" id="{B8B9CB98-45A3-9BEE-CBB1-EC66E97B4AA7}"/>
              </a:ext>
            </a:extLst>
          </p:cNvPr>
          <p:cNvSpPr>
            <a:spLocks noGrp="1"/>
          </p:cNvSpPr>
          <p:nvPr>
            <p:ph type="subTitle" idx="1"/>
          </p:nvPr>
        </p:nvSpPr>
        <p:spPr/>
        <p:txBody>
          <a:bodyPr/>
          <a:lstStyle/>
          <a:p>
            <a:r>
              <a:rPr lang="en-GB" dirty="0"/>
              <a:t>Data Cleaning &amp; Pipeline</a:t>
            </a:r>
            <a:endParaRPr lang="en-IN" dirty="0"/>
          </a:p>
        </p:txBody>
      </p:sp>
    </p:spTree>
    <p:extLst>
      <p:ext uri="{BB962C8B-B14F-4D97-AF65-F5344CB8AC3E}">
        <p14:creationId xmlns:p14="http://schemas.microsoft.com/office/powerpoint/2010/main" val="1825177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8B33-D1A4-55C7-EBC3-DEEB80A81F8F}"/>
              </a:ext>
            </a:extLst>
          </p:cNvPr>
          <p:cNvSpPr>
            <a:spLocks noGrp="1"/>
          </p:cNvSpPr>
          <p:nvPr>
            <p:ph type="title"/>
          </p:nvPr>
        </p:nvSpPr>
        <p:spPr>
          <a:xfrm>
            <a:off x="677334" y="609600"/>
            <a:ext cx="8596668" cy="582706"/>
          </a:xfrm>
        </p:spPr>
        <p:txBody>
          <a:bodyPr/>
          <a:lstStyle/>
          <a:p>
            <a:r>
              <a:rPr lang="en-IN" sz="1800" b="1" i="0" u="none" strike="noStrike" baseline="0" dirty="0">
                <a:latin typeface="Arial-BoldMT"/>
              </a:rPr>
              <a:t>Problem Statement</a:t>
            </a:r>
            <a:endParaRPr lang="en-IN" dirty="0"/>
          </a:p>
        </p:txBody>
      </p:sp>
      <p:sp>
        <p:nvSpPr>
          <p:cNvPr id="3" name="Content Placeholder 2">
            <a:extLst>
              <a:ext uri="{FF2B5EF4-FFF2-40B4-BE49-F238E27FC236}">
                <a16:creationId xmlns:a16="http://schemas.microsoft.com/office/drawing/2014/main" id="{34D83F24-1739-2D14-1B38-09EFC10DE9BC}"/>
              </a:ext>
            </a:extLst>
          </p:cNvPr>
          <p:cNvSpPr>
            <a:spLocks noGrp="1"/>
          </p:cNvSpPr>
          <p:nvPr>
            <p:ph idx="1"/>
          </p:nvPr>
        </p:nvSpPr>
        <p:spPr>
          <a:xfrm>
            <a:off x="677334" y="1192306"/>
            <a:ext cx="8596668" cy="3880773"/>
          </a:xfrm>
        </p:spPr>
        <p:txBody>
          <a:bodyPr/>
          <a:lstStyle/>
          <a:p>
            <a:pPr algn="l"/>
            <a:r>
              <a:rPr lang="en-GB" sz="1800" b="0" i="0" u="none" strike="noStrike" baseline="0" dirty="0">
                <a:solidFill>
                  <a:srgbClr val="0D0D0D"/>
                </a:solidFill>
                <a:latin typeface="Roboto-Regular"/>
              </a:rPr>
              <a:t>The task is to clean, process, and </a:t>
            </a:r>
            <a:r>
              <a:rPr lang="en-GB" sz="1800" b="0" i="0" u="none" strike="noStrike" baseline="0" dirty="0" err="1">
                <a:solidFill>
                  <a:srgbClr val="0D0D0D"/>
                </a:solidFill>
                <a:latin typeface="Roboto-Regular"/>
              </a:rPr>
              <a:t>analyze</a:t>
            </a:r>
            <a:r>
              <a:rPr lang="en-GB" sz="1800" b="0" i="0" u="none" strike="noStrike" baseline="0" dirty="0">
                <a:solidFill>
                  <a:srgbClr val="0D0D0D"/>
                </a:solidFill>
                <a:latin typeface="Roboto-Regular"/>
              </a:rPr>
              <a:t> census data from a given source, including </a:t>
            </a:r>
            <a:r>
              <a:rPr lang="en-IN" sz="1800" b="0" i="0" u="none" strike="noStrike" baseline="0" dirty="0">
                <a:solidFill>
                  <a:srgbClr val="0D0D0D"/>
                </a:solidFill>
                <a:latin typeface="Roboto-Regular"/>
              </a:rPr>
              <a:t>data renaming, missing data handling, state/UT name standardization, new state/UT </a:t>
            </a:r>
            <a:r>
              <a:rPr lang="en-GB" sz="1800" b="0" i="0" u="none" strike="noStrike" baseline="0" dirty="0">
                <a:solidFill>
                  <a:srgbClr val="0D0D0D"/>
                </a:solidFill>
                <a:latin typeface="Roboto-Regular"/>
              </a:rPr>
              <a:t>formation handling, data storage, database connection, and querying. The goal is to ensure uniformity, accuracy, and accessibility of the census data for further analysis </a:t>
            </a:r>
            <a:r>
              <a:rPr lang="en-IN" sz="1800" b="0" i="0" u="none" strike="noStrike" baseline="0" dirty="0">
                <a:solidFill>
                  <a:srgbClr val="0D0D0D"/>
                </a:solidFill>
                <a:latin typeface="Roboto-Regular"/>
              </a:rPr>
              <a:t>and visualization.</a:t>
            </a:r>
            <a:endParaRPr lang="en-IN" dirty="0"/>
          </a:p>
        </p:txBody>
      </p:sp>
    </p:spTree>
    <p:extLst>
      <p:ext uri="{BB962C8B-B14F-4D97-AF65-F5344CB8AC3E}">
        <p14:creationId xmlns:p14="http://schemas.microsoft.com/office/powerpoint/2010/main" val="316275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00DB6-B934-9D81-CCA5-30E2611C9A4E}"/>
              </a:ext>
            </a:extLst>
          </p:cNvPr>
          <p:cNvSpPr>
            <a:spLocks noGrp="1"/>
          </p:cNvSpPr>
          <p:nvPr>
            <p:ph type="title"/>
          </p:nvPr>
        </p:nvSpPr>
        <p:spPr>
          <a:xfrm>
            <a:off x="677334" y="609600"/>
            <a:ext cx="8596668" cy="528918"/>
          </a:xfrm>
        </p:spPr>
        <p:txBody>
          <a:bodyPr/>
          <a:lstStyle/>
          <a:p>
            <a:r>
              <a:rPr lang="en-GB" sz="1800" b="1" i="0" u="none" strike="noStrike" baseline="0" dirty="0">
                <a:latin typeface="Arial-BoldMT"/>
              </a:rPr>
              <a:t>Task 1: Rename the Column names</a:t>
            </a:r>
            <a:endParaRPr lang="en-IN" dirty="0"/>
          </a:p>
        </p:txBody>
      </p:sp>
      <p:sp>
        <p:nvSpPr>
          <p:cNvPr id="3" name="Content Placeholder 2">
            <a:extLst>
              <a:ext uri="{FF2B5EF4-FFF2-40B4-BE49-F238E27FC236}">
                <a16:creationId xmlns:a16="http://schemas.microsoft.com/office/drawing/2014/main" id="{B53ACE2A-C83C-44B9-0C7D-3994D716706B}"/>
              </a:ext>
            </a:extLst>
          </p:cNvPr>
          <p:cNvSpPr>
            <a:spLocks noGrp="1"/>
          </p:cNvSpPr>
          <p:nvPr>
            <p:ph idx="1"/>
          </p:nvPr>
        </p:nvSpPr>
        <p:spPr>
          <a:xfrm>
            <a:off x="677334" y="1264118"/>
            <a:ext cx="8596668" cy="3880773"/>
          </a:xfrm>
        </p:spPr>
        <p:txBody>
          <a:bodyPr>
            <a:normAutofit fontScale="85000" lnSpcReduction="20000"/>
          </a:bodyPr>
          <a:lstStyle/>
          <a:p>
            <a:pPr algn="l"/>
            <a:r>
              <a:rPr lang="en-GB" sz="1800" b="0" i="0" u="none" strike="noStrike" baseline="0" dirty="0">
                <a:latin typeface="ArialMT"/>
              </a:rPr>
              <a:t>For uniformity in the datasets and taking into consideration the census year, we need</a:t>
            </a:r>
          </a:p>
          <a:p>
            <a:pPr algn="l"/>
            <a:r>
              <a:rPr lang="en-IN" sz="1800" b="0" i="0" u="none" strike="noStrike" baseline="0" dirty="0">
                <a:latin typeface="ArialMT"/>
              </a:rPr>
              <a:t>to rename some columns.</a:t>
            </a:r>
          </a:p>
          <a:p>
            <a:pPr algn="l"/>
            <a:r>
              <a:rPr lang="en-GB" sz="1800" b="0" i="0" u="none" strike="noStrike" baseline="0" dirty="0">
                <a:latin typeface="ArialMT"/>
              </a:rPr>
              <a:t>⮚ State name to State/UT</a:t>
            </a:r>
          </a:p>
          <a:p>
            <a:pPr algn="l"/>
            <a:r>
              <a:rPr lang="en-IN" sz="1800" b="0" i="0" u="none" strike="noStrike" baseline="0" dirty="0">
                <a:latin typeface="ArialMT"/>
              </a:rPr>
              <a:t>⮚ District name to District</a:t>
            </a:r>
          </a:p>
          <a:p>
            <a:pPr algn="l"/>
            <a:r>
              <a:rPr lang="en-IN" sz="1800" b="0" i="0" u="none" strike="noStrike" baseline="0" dirty="0">
                <a:latin typeface="ArialMT"/>
              </a:rPr>
              <a:t>⮚ </a:t>
            </a:r>
            <a:r>
              <a:rPr lang="en-IN" sz="1800" b="0" i="0" u="none" strike="noStrike" baseline="0" dirty="0" err="1">
                <a:latin typeface="ArialMT"/>
              </a:rPr>
              <a:t>Male_Literate</a:t>
            </a:r>
            <a:r>
              <a:rPr lang="en-IN" sz="1800" b="0" i="0" u="none" strike="noStrike" baseline="0" dirty="0">
                <a:latin typeface="ArialMT"/>
              </a:rPr>
              <a:t> to </a:t>
            </a:r>
            <a:r>
              <a:rPr lang="en-IN" sz="1800" b="0" i="0" u="none" strike="noStrike" baseline="0" dirty="0" err="1">
                <a:latin typeface="ArialMT"/>
              </a:rPr>
              <a:t>Literate_Male</a:t>
            </a:r>
            <a:endParaRPr lang="en-IN" sz="1800" b="0" i="0" u="none" strike="noStrike" baseline="0" dirty="0">
              <a:latin typeface="ArialMT"/>
            </a:endParaRPr>
          </a:p>
          <a:p>
            <a:pPr algn="l"/>
            <a:r>
              <a:rPr lang="en-IN" sz="1800" b="0" i="0" u="none" strike="noStrike" baseline="0" dirty="0">
                <a:latin typeface="ArialMT"/>
              </a:rPr>
              <a:t>⮚ </a:t>
            </a:r>
            <a:r>
              <a:rPr lang="en-IN" sz="1800" b="0" i="0" u="none" strike="noStrike" baseline="0" dirty="0" err="1">
                <a:latin typeface="ArialMT"/>
              </a:rPr>
              <a:t>Female_Literate</a:t>
            </a:r>
            <a:r>
              <a:rPr lang="en-IN" sz="1800" b="0" i="0" u="none" strike="noStrike" baseline="0" dirty="0">
                <a:latin typeface="ArialMT"/>
              </a:rPr>
              <a:t> to </a:t>
            </a:r>
            <a:r>
              <a:rPr lang="en-IN" sz="1800" b="0" i="0" u="none" strike="noStrike" baseline="0" dirty="0" err="1">
                <a:latin typeface="ArialMT"/>
              </a:rPr>
              <a:t>Literate_Female</a:t>
            </a:r>
            <a:endParaRPr lang="en-IN" sz="1800" b="0" i="0" u="none" strike="noStrike" baseline="0" dirty="0">
              <a:latin typeface="ArialMT"/>
            </a:endParaRPr>
          </a:p>
          <a:p>
            <a:pPr algn="l"/>
            <a:r>
              <a:rPr lang="en-GB" sz="1800" b="0" i="0" u="none" strike="noStrike" baseline="0" dirty="0">
                <a:latin typeface="ArialMT"/>
              </a:rPr>
              <a:t>⮚ </a:t>
            </a:r>
            <a:r>
              <a:rPr lang="en-GB" sz="1800" b="0" i="0" u="none" strike="noStrike" baseline="0" dirty="0" err="1">
                <a:latin typeface="ArialMT"/>
              </a:rPr>
              <a:t>Rural_Households</a:t>
            </a:r>
            <a:r>
              <a:rPr lang="en-GB" sz="1800" b="0" i="0" u="none" strike="noStrike" baseline="0" dirty="0">
                <a:latin typeface="ArialMT"/>
              </a:rPr>
              <a:t> to </a:t>
            </a:r>
            <a:r>
              <a:rPr lang="en-GB" sz="1800" b="0" i="0" u="none" strike="noStrike" baseline="0" dirty="0" err="1">
                <a:latin typeface="ArialMT"/>
              </a:rPr>
              <a:t>Households_Rural</a:t>
            </a:r>
            <a:endParaRPr lang="en-GB" sz="1800" b="0" i="0" u="none" strike="noStrike" baseline="0" dirty="0">
              <a:latin typeface="ArialMT"/>
            </a:endParaRPr>
          </a:p>
          <a:p>
            <a:pPr algn="l"/>
            <a:r>
              <a:rPr lang="en-GB" sz="1800" b="0" i="0" u="none" strike="noStrike" baseline="0" dirty="0">
                <a:latin typeface="ArialMT"/>
              </a:rPr>
              <a:t>⮚ Urban_ Households to </a:t>
            </a:r>
            <a:r>
              <a:rPr lang="en-GB" sz="1800" b="0" i="0" u="none" strike="noStrike" baseline="0" dirty="0" err="1">
                <a:latin typeface="ArialMT"/>
              </a:rPr>
              <a:t>Households_Urban</a:t>
            </a:r>
            <a:endParaRPr lang="en-GB" sz="1800" b="0" i="0" u="none" strike="noStrike" baseline="0" dirty="0">
              <a:latin typeface="ArialMT"/>
            </a:endParaRPr>
          </a:p>
          <a:p>
            <a:pPr algn="l"/>
            <a:r>
              <a:rPr lang="en-GB" sz="1800" b="0" i="0" u="none" strike="noStrike" baseline="0" dirty="0">
                <a:latin typeface="ArialMT"/>
              </a:rPr>
              <a:t>⮚ Age_Group_0_29 to </a:t>
            </a:r>
            <a:r>
              <a:rPr lang="en-GB" sz="1800" b="0" i="0" u="none" strike="noStrike" baseline="0" dirty="0" err="1">
                <a:latin typeface="ArialMT"/>
              </a:rPr>
              <a:t>Young_and_Adult</a:t>
            </a:r>
            <a:endParaRPr lang="en-GB" sz="1800" b="0" i="0" u="none" strike="noStrike" baseline="0" dirty="0">
              <a:latin typeface="ArialMT"/>
            </a:endParaRPr>
          </a:p>
          <a:p>
            <a:pPr algn="l"/>
            <a:r>
              <a:rPr lang="en-GB" sz="1800" b="0" i="0" u="none" strike="noStrike" baseline="0" dirty="0">
                <a:latin typeface="ArialMT"/>
              </a:rPr>
              <a:t>⮚ Age_Group_30_49 to </a:t>
            </a:r>
            <a:r>
              <a:rPr lang="en-GB" sz="1800" b="0" i="0" u="none" strike="noStrike" baseline="0" dirty="0" err="1">
                <a:latin typeface="ArialMT"/>
              </a:rPr>
              <a:t>Middle_Aged</a:t>
            </a:r>
            <a:endParaRPr lang="en-GB" sz="1800" b="0" i="0" u="none" strike="noStrike" baseline="0" dirty="0">
              <a:latin typeface="ArialMT"/>
            </a:endParaRPr>
          </a:p>
          <a:p>
            <a:pPr algn="l"/>
            <a:r>
              <a:rPr lang="en-GB" sz="1800" b="0" i="0" u="none" strike="noStrike" baseline="0" dirty="0">
                <a:latin typeface="ArialMT"/>
              </a:rPr>
              <a:t>⮚ Age_Group_50 to </a:t>
            </a:r>
            <a:r>
              <a:rPr lang="en-GB" sz="1800" b="0" i="0" u="none" strike="noStrike" baseline="0" dirty="0" err="1">
                <a:latin typeface="ArialMT"/>
              </a:rPr>
              <a:t>Senior_Citizen</a:t>
            </a:r>
            <a:endParaRPr lang="en-GB" sz="1800" b="0" i="0" u="none" strike="noStrike" baseline="0" dirty="0">
              <a:latin typeface="ArialMT"/>
            </a:endParaRPr>
          </a:p>
          <a:p>
            <a:pPr algn="l"/>
            <a:r>
              <a:rPr lang="en-GB" sz="1800" b="0" i="0" u="none" strike="noStrike" baseline="0" dirty="0">
                <a:latin typeface="ArialMT"/>
              </a:rPr>
              <a:t>⮚ Age not stated to </a:t>
            </a:r>
            <a:r>
              <a:rPr lang="en-GB" sz="1800" b="0" i="0" u="none" strike="noStrike" baseline="0" dirty="0" err="1">
                <a:latin typeface="ArialMT"/>
              </a:rPr>
              <a:t>Age_Not_Stated</a:t>
            </a:r>
            <a:endParaRPr lang="en-GB" sz="1800" b="0" i="0" u="none" strike="noStrike" baseline="0" dirty="0">
              <a:latin typeface="ArialMT"/>
            </a:endParaRPr>
          </a:p>
          <a:p>
            <a:pPr marL="0" indent="0" algn="l">
              <a:buNone/>
            </a:pPr>
            <a:endParaRPr lang="en-IN" dirty="0"/>
          </a:p>
        </p:txBody>
      </p:sp>
    </p:spTree>
    <p:extLst>
      <p:ext uri="{BB962C8B-B14F-4D97-AF65-F5344CB8AC3E}">
        <p14:creationId xmlns:p14="http://schemas.microsoft.com/office/powerpoint/2010/main" val="2354392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59C57-6673-0813-41B8-D94AC49B8686}"/>
              </a:ext>
            </a:extLst>
          </p:cNvPr>
          <p:cNvSpPr>
            <a:spLocks noGrp="1"/>
          </p:cNvSpPr>
          <p:nvPr>
            <p:ph type="title"/>
          </p:nvPr>
        </p:nvSpPr>
        <p:spPr>
          <a:xfrm>
            <a:off x="677334" y="609601"/>
            <a:ext cx="8596668" cy="484094"/>
          </a:xfrm>
        </p:spPr>
        <p:txBody>
          <a:bodyPr/>
          <a:lstStyle/>
          <a:p>
            <a:r>
              <a:rPr lang="en-IN" sz="1800" b="1" i="0" u="none" strike="noStrike" baseline="0" dirty="0">
                <a:latin typeface="Arial-BoldMT"/>
              </a:rPr>
              <a:t>Task 2: Rename State/UT Names</a:t>
            </a:r>
            <a:endParaRPr lang="en-IN" dirty="0"/>
          </a:p>
        </p:txBody>
      </p:sp>
      <p:sp>
        <p:nvSpPr>
          <p:cNvPr id="3" name="Content Placeholder 2">
            <a:extLst>
              <a:ext uri="{FF2B5EF4-FFF2-40B4-BE49-F238E27FC236}">
                <a16:creationId xmlns:a16="http://schemas.microsoft.com/office/drawing/2014/main" id="{53E78378-B204-D1E8-DB8C-72AEB29204BD}"/>
              </a:ext>
            </a:extLst>
          </p:cNvPr>
          <p:cNvSpPr>
            <a:spLocks noGrp="1"/>
          </p:cNvSpPr>
          <p:nvPr>
            <p:ph idx="1"/>
          </p:nvPr>
        </p:nvSpPr>
        <p:spPr>
          <a:xfrm>
            <a:off x="677334" y="1237225"/>
            <a:ext cx="8596668" cy="3128587"/>
          </a:xfrm>
        </p:spPr>
        <p:txBody>
          <a:bodyPr/>
          <a:lstStyle/>
          <a:p>
            <a:pPr algn="l"/>
            <a:r>
              <a:rPr lang="en-GB" sz="1800" b="0" i="0" u="none" strike="noStrike" baseline="0" dirty="0">
                <a:latin typeface="ArialMT"/>
              </a:rPr>
              <a:t>The State/UT names are in all caps in the census data, For uniformity across datasets we use the names so that only the first character of each word in the name is in upper case and the rest are in lower case. However, if the word is “and” then it </a:t>
            </a:r>
            <a:r>
              <a:rPr lang="en-IN" sz="1800" b="0" i="0" u="none" strike="noStrike" baseline="0" dirty="0">
                <a:latin typeface="ArialMT"/>
              </a:rPr>
              <a:t>should be all lowercase.</a:t>
            </a:r>
          </a:p>
          <a:p>
            <a:pPr algn="l"/>
            <a:r>
              <a:rPr lang="en-IN" sz="1800" b="0" i="0" u="none" strike="noStrike" baseline="0" dirty="0">
                <a:latin typeface="ArialMT"/>
              </a:rPr>
              <a:t>Examples:</a:t>
            </a:r>
          </a:p>
          <a:p>
            <a:pPr marL="400050" lvl="1" indent="0">
              <a:buNone/>
            </a:pPr>
            <a:r>
              <a:rPr lang="en-IN" b="0" i="0" u="none" strike="noStrike" baseline="0" dirty="0">
                <a:latin typeface="ArialMT"/>
              </a:rPr>
              <a:t> Andaman and Nicobar Islands</a:t>
            </a:r>
          </a:p>
          <a:p>
            <a:pPr marL="400050" lvl="1" indent="0">
              <a:buNone/>
            </a:pPr>
            <a:r>
              <a:rPr lang="en-IN" b="0" i="0" u="none" strike="noStrike" baseline="0" dirty="0">
                <a:latin typeface="ArialMT"/>
              </a:rPr>
              <a:t> Arunachal Pradesh</a:t>
            </a:r>
          </a:p>
          <a:p>
            <a:pPr marL="400050" lvl="1" indent="0">
              <a:buNone/>
            </a:pPr>
            <a:r>
              <a:rPr lang="en-IN" b="0" i="0" u="none" strike="noStrike" baseline="0" dirty="0">
                <a:latin typeface="ArialMT"/>
              </a:rPr>
              <a:t> Bihar</a:t>
            </a:r>
          </a:p>
          <a:p>
            <a:pPr marL="400050" lvl="1" indent="0">
              <a:buNone/>
            </a:pPr>
            <a:endParaRPr lang="en-IN" b="0" i="0" u="none" strike="noStrike" baseline="0" dirty="0">
              <a:latin typeface="ArialMT"/>
            </a:endParaRPr>
          </a:p>
        </p:txBody>
      </p:sp>
    </p:spTree>
    <p:extLst>
      <p:ext uri="{BB962C8B-B14F-4D97-AF65-F5344CB8AC3E}">
        <p14:creationId xmlns:p14="http://schemas.microsoft.com/office/powerpoint/2010/main" val="1991861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B1740-8E33-80D5-DF22-965EB9DDDC85}"/>
              </a:ext>
            </a:extLst>
          </p:cNvPr>
          <p:cNvSpPr>
            <a:spLocks noGrp="1"/>
          </p:cNvSpPr>
          <p:nvPr>
            <p:ph type="title"/>
          </p:nvPr>
        </p:nvSpPr>
        <p:spPr>
          <a:xfrm>
            <a:off x="677334" y="609600"/>
            <a:ext cx="8596668" cy="555812"/>
          </a:xfrm>
        </p:spPr>
        <p:txBody>
          <a:bodyPr/>
          <a:lstStyle/>
          <a:p>
            <a:r>
              <a:rPr lang="en-GB" sz="1800" b="1" i="0" u="none" strike="noStrike" baseline="0" dirty="0">
                <a:latin typeface="Arial-BoldMT"/>
              </a:rPr>
              <a:t>Task 4: Find and process Missing Data</a:t>
            </a:r>
            <a:endParaRPr lang="en-IN" dirty="0"/>
          </a:p>
        </p:txBody>
      </p:sp>
      <p:sp>
        <p:nvSpPr>
          <p:cNvPr id="3" name="Content Placeholder 2">
            <a:extLst>
              <a:ext uri="{FF2B5EF4-FFF2-40B4-BE49-F238E27FC236}">
                <a16:creationId xmlns:a16="http://schemas.microsoft.com/office/drawing/2014/main" id="{EF256940-98EA-8D26-E5A5-89E1591C0BDE}"/>
              </a:ext>
            </a:extLst>
          </p:cNvPr>
          <p:cNvSpPr>
            <a:spLocks noGrp="1"/>
          </p:cNvSpPr>
          <p:nvPr>
            <p:ph idx="1"/>
          </p:nvPr>
        </p:nvSpPr>
        <p:spPr>
          <a:xfrm>
            <a:off x="677334" y="1291012"/>
            <a:ext cx="8596668" cy="3880773"/>
          </a:xfrm>
        </p:spPr>
        <p:txBody>
          <a:bodyPr>
            <a:normAutofit/>
          </a:bodyPr>
          <a:lstStyle/>
          <a:p>
            <a:pPr algn="l"/>
            <a:r>
              <a:rPr lang="en-GB" sz="1800" b="0" i="0" u="none" strike="noStrike" baseline="0" dirty="0">
                <a:latin typeface="ArialMT"/>
              </a:rPr>
              <a:t>Find and store the percentage of data missing for each column.</a:t>
            </a:r>
          </a:p>
          <a:p>
            <a:pPr algn="l"/>
            <a:r>
              <a:rPr lang="en-GB" sz="1800" b="0" i="0" u="none" strike="noStrike" baseline="0" dirty="0">
                <a:latin typeface="ArialMT"/>
              </a:rPr>
              <a:t>Some data can be found and filled in by using information from other cells. Try to find the correct data by using information from other cells and filling it in. Find and store the percentage of data missing for each column.</a:t>
            </a:r>
          </a:p>
          <a:p>
            <a:pPr algn="l"/>
            <a:r>
              <a:rPr lang="en-IN" sz="1800" b="0" i="0" u="none" strike="noStrike" baseline="0" dirty="0">
                <a:latin typeface="ArialMT"/>
              </a:rPr>
              <a:t>Hint:</a:t>
            </a:r>
          </a:p>
          <a:p>
            <a:pPr marL="400050" lvl="1" indent="0">
              <a:buNone/>
            </a:pPr>
            <a:r>
              <a:rPr lang="en-IN" b="0" i="0" u="none" strike="noStrike" baseline="0" dirty="0">
                <a:latin typeface="ArialMT"/>
              </a:rPr>
              <a:t>Population = Male + Female</a:t>
            </a:r>
          </a:p>
          <a:p>
            <a:pPr marL="400050" lvl="1" indent="0">
              <a:buNone/>
            </a:pPr>
            <a:r>
              <a:rPr lang="en-IN" b="0" i="0" u="none" strike="noStrike" baseline="0" dirty="0">
                <a:latin typeface="ArialMT"/>
              </a:rPr>
              <a:t> Literate = </a:t>
            </a:r>
            <a:r>
              <a:rPr lang="en-IN" b="0" i="0" u="none" strike="noStrike" baseline="0" dirty="0" err="1">
                <a:latin typeface="ArialMT"/>
              </a:rPr>
              <a:t>Literate_Male</a:t>
            </a:r>
            <a:r>
              <a:rPr lang="en-IN" b="0" i="0" u="none" strike="noStrike" baseline="0" dirty="0">
                <a:latin typeface="ArialMT"/>
              </a:rPr>
              <a:t> + </a:t>
            </a:r>
            <a:r>
              <a:rPr lang="en-IN" b="0" i="0" u="none" strike="noStrike" baseline="0" dirty="0" err="1">
                <a:latin typeface="ArialMT"/>
              </a:rPr>
              <a:t>Literate_Female</a:t>
            </a:r>
            <a:endParaRPr lang="en-IN" b="0" i="0" u="none" strike="noStrike" baseline="0" dirty="0">
              <a:latin typeface="ArialMT"/>
            </a:endParaRPr>
          </a:p>
          <a:p>
            <a:pPr marL="400050" lvl="1" indent="0">
              <a:buNone/>
            </a:pPr>
            <a:r>
              <a:rPr lang="en-GB" b="0" i="0" u="none" strike="noStrike" baseline="0" dirty="0">
                <a:latin typeface="ArialMT"/>
              </a:rPr>
              <a:t> Population = </a:t>
            </a:r>
            <a:r>
              <a:rPr lang="en-GB" b="0" i="0" u="none" strike="noStrike" baseline="0" dirty="0" err="1">
                <a:latin typeface="ArialMT"/>
              </a:rPr>
              <a:t>Young_and_Adult</a:t>
            </a:r>
            <a:r>
              <a:rPr lang="en-GB" b="0" i="0" u="none" strike="noStrike" baseline="0" dirty="0">
                <a:latin typeface="ArialMT"/>
              </a:rPr>
              <a:t>+ </a:t>
            </a:r>
            <a:r>
              <a:rPr lang="en-GB" b="0" i="0" u="none" strike="noStrike" baseline="0" dirty="0" err="1">
                <a:latin typeface="ArialMT"/>
              </a:rPr>
              <a:t>Middle_Aged</a:t>
            </a:r>
            <a:r>
              <a:rPr lang="en-GB" b="0" i="0" u="none" strike="noStrike" baseline="0" dirty="0">
                <a:latin typeface="ArialMT"/>
              </a:rPr>
              <a:t> + </a:t>
            </a:r>
            <a:r>
              <a:rPr lang="en-GB" b="0" i="0" u="none" strike="noStrike" baseline="0" dirty="0" err="1">
                <a:latin typeface="ArialMT"/>
              </a:rPr>
              <a:t>Senior_Citizen</a:t>
            </a:r>
            <a:r>
              <a:rPr lang="en-GB" b="0" i="0" u="none" strike="noStrike" baseline="0" dirty="0">
                <a:latin typeface="ArialMT"/>
              </a:rPr>
              <a:t> +</a:t>
            </a:r>
          </a:p>
          <a:p>
            <a:pPr marL="400050" lvl="1" indent="0">
              <a:buNone/>
            </a:pPr>
            <a:r>
              <a:rPr lang="en-IN" b="0" i="0" u="none" strike="noStrike" baseline="0" dirty="0" err="1">
                <a:latin typeface="ArialMT"/>
              </a:rPr>
              <a:t>Age_Not_Stated</a:t>
            </a:r>
            <a:endParaRPr lang="en-IN" b="0" i="0" u="none" strike="noStrike" baseline="0" dirty="0">
              <a:latin typeface="ArialMT"/>
            </a:endParaRPr>
          </a:p>
          <a:p>
            <a:pPr marL="400050" lvl="1" indent="0">
              <a:buNone/>
            </a:pPr>
            <a:r>
              <a:rPr lang="en-GB" b="0" i="0" u="none" strike="noStrike" baseline="0" dirty="0">
                <a:latin typeface="ArialMT"/>
              </a:rPr>
              <a:t> Households = </a:t>
            </a:r>
            <a:r>
              <a:rPr lang="en-GB" b="0" i="0" u="none" strike="noStrike" baseline="0" dirty="0" err="1">
                <a:latin typeface="ArialMT"/>
              </a:rPr>
              <a:t>Households_Rural</a:t>
            </a:r>
            <a:r>
              <a:rPr lang="en-GB" b="0" i="0" u="none" strike="noStrike" baseline="0" dirty="0">
                <a:latin typeface="ArialMT"/>
              </a:rPr>
              <a:t> + </a:t>
            </a:r>
            <a:r>
              <a:rPr lang="en-GB" b="0" i="0" u="none" strike="noStrike" baseline="0" dirty="0" err="1">
                <a:latin typeface="ArialMT"/>
              </a:rPr>
              <a:t>Households_Urban</a:t>
            </a:r>
            <a:endParaRPr lang="en-IN" dirty="0"/>
          </a:p>
        </p:txBody>
      </p:sp>
    </p:spTree>
    <p:extLst>
      <p:ext uri="{BB962C8B-B14F-4D97-AF65-F5344CB8AC3E}">
        <p14:creationId xmlns:p14="http://schemas.microsoft.com/office/powerpoint/2010/main" val="2158031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176F-806D-3FFA-2C13-6F679E40AD8D}"/>
              </a:ext>
            </a:extLst>
          </p:cNvPr>
          <p:cNvSpPr>
            <a:spLocks noGrp="1"/>
          </p:cNvSpPr>
          <p:nvPr>
            <p:ph type="title"/>
          </p:nvPr>
        </p:nvSpPr>
        <p:spPr>
          <a:xfrm>
            <a:off x="677334" y="609600"/>
            <a:ext cx="8596668" cy="546847"/>
          </a:xfrm>
        </p:spPr>
        <p:txBody>
          <a:bodyPr/>
          <a:lstStyle/>
          <a:p>
            <a:r>
              <a:rPr lang="en-GB" sz="1800" b="1" i="0" u="none" strike="noStrike" baseline="0" dirty="0">
                <a:latin typeface="Arial-BoldMT"/>
              </a:rPr>
              <a:t>Task 5: Save Data to MongoDB</a:t>
            </a:r>
            <a:endParaRPr lang="en-IN" dirty="0"/>
          </a:p>
        </p:txBody>
      </p:sp>
      <p:sp>
        <p:nvSpPr>
          <p:cNvPr id="3" name="Content Placeholder 2">
            <a:extLst>
              <a:ext uri="{FF2B5EF4-FFF2-40B4-BE49-F238E27FC236}">
                <a16:creationId xmlns:a16="http://schemas.microsoft.com/office/drawing/2014/main" id="{6582D173-BD2E-4BB8-6FB8-F4D161713341}"/>
              </a:ext>
            </a:extLst>
          </p:cNvPr>
          <p:cNvSpPr>
            <a:spLocks noGrp="1"/>
          </p:cNvSpPr>
          <p:nvPr>
            <p:ph idx="1"/>
          </p:nvPr>
        </p:nvSpPr>
        <p:spPr>
          <a:xfrm>
            <a:off x="677334" y="1291014"/>
            <a:ext cx="8596668" cy="1389434"/>
          </a:xfrm>
        </p:spPr>
        <p:txBody>
          <a:bodyPr/>
          <a:lstStyle/>
          <a:p>
            <a:r>
              <a:rPr lang="en-GB" sz="1800" b="0" i="0" u="none" strike="noStrike" baseline="0" dirty="0">
                <a:latin typeface="ArialMT"/>
              </a:rPr>
              <a:t>Save the processed data to </a:t>
            </a:r>
            <a:r>
              <a:rPr lang="en-GB" sz="1800" b="0" i="0" u="none" strike="noStrike" baseline="0" dirty="0" err="1">
                <a:latin typeface="ArialMT"/>
              </a:rPr>
              <a:t>mongoDB</a:t>
            </a:r>
            <a:r>
              <a:rPr lang="en-GB" sz="1800" b="0" i="0" u="none" strike="noStrike" baseline="0" dirty="0">
                <a:latin typeface="ArialMT"/>
              </a:rPr>
              <a:t> with a collection named “</a:t>
            </a:r>
            <a:r>
              <a:rPr lang="en-GB" sz="1800" b="0" i="1" u="none" strike="noStrike" baseline="0" dirty="0">
                <a:latin typeface="Arial-ItalicMT"/>
              </a:rPr>
              <a:t>census</a:t>
            </a:r>
            <a:r>
              <a:rPr lang="en-GB" sz="1800" b="0" i="0" u="none" strike="noStrike" baseline="0" dirty="0">
                <a:latin typeface="ArialMT"/>
              </a:rPr>
              <a:t>”</a:t>
            </a:r>
            <a:endParaRPr lang="en-IN" dirty="0"/>
          </a:p>
        </p:txBody>
      </p:sp>
    </p:spTree>
    <p:extLst>
      <p:ext uri="{BB962C8B-B14F-4D97-AF65-F5344CB8AC3E}">
        <p14:creationId xmlns:p14="http://schemas.microsoft.com/office/powerpoint/2010/main" val="56756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5B379-559F-7A23-E9FB-E6596630411C}"/>
              </a:ext>
            </a:extLst>
          </p:cNvPr>
          <p:cNvSpPr>
            <a:spLocks noGrp="1"/>
          </p:cNvSpPr>
          <p:nvPr>
            <p:ph type="title"/>
          </p:nvPr>
        </p:nvSpPr>
        <p:spPr>
          <a:xfrm>
            <a:off x="677334" y="609600"/>
            <a:ext cx="8596668" cy="645459"/>
          </a:xfrm>
        </p:spPr>
        <p:txBody>
          <a:bodyPr/>
          <a:lstStyle/>
          <a:p>
            <a:r>
              <a:rPr lang="en-GB" sz="1800" b="1" i="0" u="none" strike="noStrike" baseline="0" dirty="0">
                <a:latin typeface="Arial-BoldMT"/>
              </a:rPr>
              <a:t>Task 6: Database connection and data upload</a:t>
            </a:r>
            <a:endParaRPr lang="en-IN" dirty="0"/>
          </a:p>
        </p:txBody>
      </p:sp>
      <p:sp>
        <p:nvSpPr>
          <p:cNvPr id="3" name="Content Placeholder 2">
            <a:extLst>
              <a:ext uri="{FF2B5EF4-FFF2-40B4-BE49-F238E27FC236}">
                <a16:creationId xmlns:a16="http://schemas.microsoft.com/office/drawing/2014/main" id="{2FBC0351-39B1-A41F-0798-0DA781268A28}"/>
              </a:ext>
            </a:extLst>
          </p:cNvPr>
          <p:cNvSpPr>
            <a:spLocks noGrp="1"/>
          </p:cNvSpPr>
          <p:nvPr>
            <p:ph idx="1"/>
          </p:nvPr>
        </p:nvSpPr>
        <p:spPr/>
        <p:txBody>
          <a:bodyPr/>
          <a:lstStyle/>
          <a:p>
            <a:pPr algn="l"/>
            <a:r>
              <a:rPr lang="en-GB" sz="1800" b="0" i="0" u="none" strike="noStrike" baseline="0" dirty="0">
                <a:latin typeface="ArialMT"/>
              </a:rPr>
              <a:t>Data should be fetched from the </a:t>
            </a:r>
            <a:r>
              <a:rPr lang="en-GB" sz="1800" b="0" i="0" u="none" strike="noStrike" baseline="0" dirty="0" err="1">
                <a:latin typeface="ArialMT"/>
              </a:rPr>
              <a:t>mongoDB</a:t>
            </a:r>
            <a:r>
              <a:rPr lang="en-GB" sz="1800" b="0" i="0" u="none" strike="noStrike" baseline="0" dirty="0">
                <a:latin typeface="ArialMT"/>
              </a:rPr>
              <a:t> and to be uploaded to a relational database using python code . The table names should be the same as the file </a:t>
            </a:r>
            <a:r>
              <a:rPr lang="en-IN" sz="1800" b="0" i="0" u="none" strike="noStrike" baseline="0" dirty="0">
                <a:latin typeface="ArialMT"/>
              </a:rPr>
              <a:t>names without the extension.</a:t>
            </a:r>
          </a:p>
          <a:p>
            <a:pPr algn="l"/>
            <a:r>
              <a:rPr lang="en-GB" sz="1800" b="0" i="0" u="none" strike="noStrike" baseline="0" dirty="0">
                <a:latin typeface="ArialMT"/>
              </a:rPr>
              <a:t>The primary key and foreign key constraints should be included in the tables </a:t>
            </a:r>
            <a:r>
              <a:rPr lang="en-IN" sz="1800" b="0" i="0" u="none" strike="noStrike" baseline="0" dirty="0">
                <a:latin typeface="ArialMT"/>
              </a:rPr>
              <a:t>wherever required.</a:t>
            </a:r>
            <a:endParaRPr lang="en-IN" dirty="0"/>
          </a:p>
        </p:txBody>
      </p:sp>
    </p:spTree>
    <p:extLst>
      <p:ext uri="{BB962C8B-B14F-4D97-AF65-F5344CB8AC3E}">
        <p14:creationId xmlns:p14="http://schemas.microsoft.com/office/powerpoint/2010/main" val="1317919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9278E-FEDA-0C9F-AB36-FA311EC4D390}"/>
              </a:ext>
            </a:extLst>
          </p:cNvPr>
          <p:cNvSpPr>
            <a:spLocks noGrp="1"/>
          </p:cNvSpPr>
          <p:nvPr>
            <p:ph type="title"/>
          </p:nvPr>
        </p:nvSpPr>
        <p:spPr>
          <a:xfrm>
            <a:off x="677334" y="609600"/>
            <a:ext cx="8596668" cy="609600"/>
          </a:xfrm>
        </p:spPr>
        <p:txBody>
          <a:bodyPr/>
          <a:lstStyle/>
          <a:p>
            <a:r>
              <a:rPr lang="en-GB" sz="1800" b="1" i="0" u="none" strike="noStrike" baseline="0" dirty="0">
                <a:latin typeface="Arial-BoldMT"/>
              </a:rPr>
              <a:t>Task 7: Run Query on the database and show output on </a:t>
            </a:r>
            <a:r>
              <a:rPr lang="en-GB" sz="1800" b="1" i="0" u="none" strike="noStrike" baseline="0" dirty="0" err="1">
                <a:latin typeface="Arial-BoldMT"/>
              </a:rPr>
              <a:t>streamlit</a:t>
            </a:r>
            <a:endParaRPr lang="en-IN" dirty="0"/>
          </a:p>
        </p:txBody>
      </p:sp>
      <p:sp>
        <p:nvSpPr>
          <p:cNvPr id="3" name="Content Placeholder 2">
            <a:extLst>
              <a:ext uri="{FF2B5EF4-FFF2-40B4-BE49-F238E27FC236}">
                <a16:creationId xmlns:a16="http://schemas.microsoft.com/office/drawing/2014/main" id="{21DB477F-CB83-3E90-B597-DD9E3EE7C7C2}"/>
              </a:ext>
            </a:extLst>
          </p:cNvPr>
          <p:cNvSpPr>
            <a:spLocks noGrp="1"/>
          </p:cNvSpPr>
          <p:nvPr>
            <p:ph idx="1"/>
          </p:nvPr>
        </p:nvSpPr>
        <p:spPr>
          <a:xfrm>
            <a:off x="677334" y="1219200"/>
            <a:ext cx="8596668" cy="5576047"/>
          </a:xfrm>
        </p:spPr>
        <p:txBody>
          <a:bodyPr>
            <a:normAutofit fontScale="92500" lnSpcReduction="20000"/>
          </a:bodyPr>
          <a:lstStyle/>
          <a:p>
            <a:pPr algn="l"/>
            <a:r>
              <a:rPr lang="en-GB" sz="1800" b="0" i="0" u="none" strike="noStrike" baseline="0" dirty="0">
                <a:solidFill>
                  <a:srgbClr val="0D0D0D"/>
                </a:solidFill>
                <a:latin typeface="ArialMT"/>
              </a:rPr>
              <a:t>1. What is the total population of each district?</a:t>
            </a:r>
          </a:p>
          <a:p>
            <a:pPr algn="l"/>
            <a:r>
              <a:rPr lang="en-GB" sz="1800" b="0" i="0" u="none" strike="noStrike" baseline="0" dirty="0">
                <a:solidFill>
                  <a:srgbClr val="0D0D0D"/>
                </a:solidFill>
                <a:latin typeface="ArialMT"/>
              </a:rPr>
              <a:t>2. How many literate males and females are there in each district?</a:t>
            </a:r>
          </a:p>
          <a:p>
            <a:pPr algn="l"/>
            <a:r>
              <a:rPr lang="en-GB" sz="1800" b="0" i="0" u="none" strike="noStrike" baseline="0" dirty="0">
                <a:solidFill>
                  <a:srgbClr val="0D0D0D"/>
                </a:solidFill>
                <a:latin typeface="ArialMT"/>
              </a:rPr>
              <a:t>3. What is the percentage of workers (both male and female) in each district?</a:t>
            </a:r>
          </a:p>
          <a:p>
            <a:pPr algn="l"/>
            <a:r>
              <a:rPr lang="en-GB" sz="1800" b="0" i="0" u="none" strike="noStrike" baseline="0" dirty="0">
                <a:solidFill>
                  <a:srgbClr val="0D0D0D"/>
                </a:solidFill>
                <a:latin typeface="ArialMT"/>
              </a:rPr>
              <a:t>4. How many households have access to LPG or PNG as a cooking fuel in each </a:t>
            </a:r>
            <a:r>
              <a:rPr lang="en-IN" sz="1800" b="0" i="0" u="none" strike="noStrike" baseline="0" dirty="0">
                <a:solidFill>
                  <a:srgbClr val="0D0D0D"/>
                </a:solidFill>
                <a:latin typeface="ArialMT"/>
              </a:rPr>
              <a:t>district?</a:t>
            </a:r>
          </a:p>
          <a:p>
            <a:pPr algn="l"/>
            <a:r>
              <a:rPr lang="en-GB" sz="1800" b="0" i="0" u="none" strike="noStrike" baseline="0" dirty="0">
                <a:solidFill>
                  <a:srgbClr val="0D0D0D"/>
                </a:solidFill>
                <a:latin typeface="ArialMT"/>
              </a:rPr>
              <a:t>5. What is the religious composition (Hindus, Muslims, Christians, etc.) of each </a:t>
            </a:r>
            <a:r>
              <a:rPr lang="en-IN" sz="1800" b="0" i="0" u="none" strike="noStrike" baseline="0" dirty="0">
                <a:solidFill>
                  <a:srgbClr val="0D0D0D"/>
                </a:solidFill>
                <a:latin typeface="ArialMT"/>
              </a:rPr>
              <a:t>district?</a:t>
            </a:r>
          </a:p>
          <a:p>
            <a:pPr algn="l"/>
            <a:r>
              <a:rPr lang="en-GB" sz="1800" b="0" i="0" u="none" strike="noStrike" baseline="0" dirty="0">
                <a:solidFill>
                  <a:srgbClr val="0D0D0D"/>
                </a:solidFill>
                <a:latin typeface="ArialMT"/>
              </a:rPr>
              <a:t>6. How many households have internet access in each district?</a:t>
            </a:r>
          </a:p>
          <a:p>
            <a:pPr algn="l"/>
            <a:r>
              <a:rPr lang="en-GB" sz="1800" b="0" i="0" u="none" strike="noStrike" baseline="0" dirty="0">
                <a:solidFill>
                  <a:srgbClr val="0D0D0D"/>
                </a:solidFill>
                <a:latin typeface="ArialMT"/>
              </a:rPr>
              <a:t>7. What is the educational attainment distribution (below primary, primary, middle, secondary, etc.) in each district?</a:t>
            </a:r>
          </a:p>
          <a:p>
            <a:pPr algn="l"/>
            <a:r>
              <a:rPr lang="en-GB" sz="1800" b="0" i="0" u="none" strike="noStrike" baseline="0" dirty="0">
                <a:solidFill>
                  <a:srgbClr val="0D0D0D"/>
                </a:solidFill>
                <a:latin typeface="ArialMT"/>
              </a:rPr>
              <a:t>8. How many households have access to various modes of transportation (bicycle, car, radio, television, etc.) in each district?</a:t>
            </a:r>
          </a:p>
          <a:p>
            <a:pPr algn="l"/>
            <a:r>
              <a:rPr lang="en-GB" sz="1800" b="0" i="0" u="none" strike="noStrike" baseline="0" dirty="0">
                <a:solidFill>
                  <a:srgbClr val="0D0D0D"/>
                </a:solidFill>
                <a:latin typeface="ArialMT"/>
              </a:rPr>
              <a:t>9. What is the condition of occupied census houses (dilapidated, with separate kitchen, with bathing facility, with latrine facility, etc.) in each district?</a:t>
            </a:r>
          </a:p>
          <a:p>
            <a:pPr algn="l"/>
            <a:r>
              <a:rPr lang="en-GB" sz="1800" b="0" i="0" u="none" strike="noStrike" baseline="0" dirty="0">
                <a:solidFill>
                  <a:srgbClr val="0D0D0D"/>
                </a:solidFill>
                <a:latin typeface="ArialMT"/>
              </a:rPr>
              <a:t>10.How is the household size distributed (1 person, 2 persons, 3-5 persons, etc.) </a:t>
            </a:r>
            <a:r>
              <a:rPr lang="en-IN" sz="1800" b="0" i="0" u="none" strike="noStrike" baseline="0" dirty="0">
                <a:solidFill>
                  <a:srgbClr val="0D0D0D"/>
                </a:solidFill>
                <a:latin typeface="ArialMT"/>
              </a:rPr>
              <a:t>in each district?</a:t>
            </a:r>
          </a:p>
          <a:p>
            <a:pPr algn="l"/>
            <a:r>
              <a:rPr lang="en-GB" sz="1800" b="0" i="0" u="none" strike="noStrike" baseline="0" dirty="0">
                <a:solidFill>
                  <a:srgbClr val="0D0D0D"/>
                </a:solidFill>
                <a:latin typeface="ArialMT"/>
              </a:rPr>
              <a:t>11. What is the total number of households in each state?</a:t>
            </a:r>
          </a:p>
          <a:p>
            <a:pPr algn="l"/>
            <a:r>
              <a:rPr lang="en-GB" sz="1800" b="0" i="0" u="none" strike="noStrike" baseline="0" dirty="0">
                <a:solidFill>
                  <a:srgbClr val="0D0D0D"/>
                </a:solidFill>
                <a:latin typeface="ArialMT"/>
              </a:rPr>
              <a:t>12.How many households have a latrine facility within the premises in each </a:t>
            </a:r>
            <a:r>
              <a:rPr lang="en-IN" sz="1800" b="0" i="0" u="none" strike="noStrike" baseline="0" dirty="0">
                <a:solidFill>
                  <a:srgbClr val="0D0D0D"/>
                </a:solidFill>
                <a:latin typeface="ArialMT"/>
              </a:rPr>
              <a:t>state?</a:t>
            </a:r>
          </a:p>
          <a:p>
            <a:pPr algn="l"/>
            <a:r>
              <a:rPr lang="en-GB" sz="1800" b="0" i="0" u="none" strike="noStrike" baseline="0" dirty="0">
                <a:solidFill>
                  <a:srgbClr val="0D0D0D"/>
                </a:solidFill>
                <a:latin typeface="ArialMT"/>
              </a:rPr>
              <a:t>13.What is the average household size in each state?</a:t>
            </a:r>
            <a:endParaRPr lang="en-IN" dirty="0"/>
          </a:p>
        </p:txBody>
      </p:sp>
    </p:spTree>
    <p:extLst>
      <p:ext uri="{BB962C8B-B14F-4D97-AF65-F5344CB8AC3E}">
        <p14:creationId xmlns:p14="http://schemas.microsoft.com/office/powerpoint/2010/main" val="2740254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E119-D4C8-F6A8-329A-820E5ABE74AA}"/>
              </a:ext>
            </a:extLst>
          </p:cNvPr>
          <p:cNvSpPr>
            <a:spLocks noGrp="1"/>
          </p:cNvSpPr>
          <p:nvPr>
            <p:ph type="title"/>
          </p:nvPr>
        </p:nvSpPr>
        <p:spPr>
          <a:xfrm>
            <a:off x="677334" y="609600"/>
            <a:ext cx="8596668" cy="582706"/>
          </a:xfrm>
        </p:spPr>
        <p:txBody>
          <a:bodyPr/>
          <a:lstStyle/>
          <a:p>
            <a:r>
              <a:rPr lang="en-GB" sz="1800" b="1" dirty="0">
                <a:latin typeface="Arial-BoldMT"/>
              </a:rPr>
              <a:t>Task 7: Run Query on the database and show output on </a:t>
            </a:r>
            <a:r>
              <a:rPr lang="en-GB" sz="1800" b="1" dirty="0" err="1">
                <a:latin typeface="Arial-BoldMT"/>
              </a:rPr>
              <a:t>streamlit</a:t>
            </a:r>
            <a:endParaRPr lang="en-IN" sz="1800" b="1" dirty="0">
              <a:latin typeface="Arial-BoldMT"/>
            </a:endParaRPr>
          </a:p>
        </p:txBody>
      </p:sp>
      <p:sp>
        <p:nvSpPr>
          <p:cNvPr id="3" name="Content Placeholder 2">
            <a:extLst>
              <a:ext uri="{FF2B5EF4-FFF2-40B4-BE49-F238E27FC236}">
                <a16:creationId xmlns:a16="http://schemas.microsoft.com/office/drawing/2014/main" id="{E0495E81-3441-F89A-4457-A64E2ABDEC5F}"/>
              </a:ext>
            </a:extLst>
          </p:cNvPr>
          <p:cNvSpPr>
            <a:spLocks noGrp="1"/>
          </p:cNvSpPr>
          <p:nvPr>
            <p:ph idx="1"/>
          </p:nvPr>
        </p:nvSpPr>
        <p:spPr>
          <a:xfrm>
            <a:off x="677334" y="1192306"/>
            <a:ext cx="8596668" cy="3880773"/>
          </a:xfrm>
        </p:spPr>
        <p:txBody>
          <a:bodyPr>
            <a:normAutofit fontScale="92500" lnSpcReduction="10000"/>
          </a:bodyPr>
          <a:lstStyle/>
          <a:p>
            <a:pPr algn="l"/>
            <a:r>
              <a:rPr lang="en-GB" sz="1800" b="0" i="0" u="none" strike="noStrike" baseline="0" dirty="0">
                <a:solidFill>
                  <a:srgbClr val="0D0D0D"/>
                </a:solidFill>
                <a:latin typeface="ArialMT"/>
              </a:rPr>
              <a:t>14.How many households are owned versus rented in each state?</a:t>
            </a:r>
          </a:p>
          <a:p>
            <a:pPr algn="l"/>
            <a:r>
              <a:rPr lang="en-GB" sz="1800" b="0" i="0" u="none" strike="noStrike" baseline="0" dirty="0">
                <a:solidFill>
                  <a:srgbClr val="0D0D0D"/>
                </a:solidFill>
                <a:latin typeface="ArialMT"/>
              </a:rPr>
              <a:t>15.What is the distribution of different types of latrine facilities (pit latrine, flush latrine, etc.) in each state?</a:t>
            </a:r>
          </a:p>
          <a:p>
            <a:pPr algn="l"/>
            <a:r>
              <a:rPr lang="en-GB" sz="1800" b="0" i="0" u="none" strike="noStrike" baseline="0" dirty="0">
                <a:solidFill>
                  <a:srgbClr val="0D0D0D"/>
                </a:solidFill>
                <a:latin typeface="ArialMT"/>
              </a:rPr>
              <a:t>16.How many households have access to drinking water sources near the </a:t>
            </a:r>
            <a:r>
              <a:rPr lang="en-IN" sz="1800" b="0" i="0" u="none" strike="noStrike" baseline="0" dirty="0">
                <a:solidFill>
                  <a:srgbClr val="0D0D0D"/>
                </a:solidFill>
                <a:latin typeface="ArialMT"/>
              </a:rPr>
              <a:t>premises in each state?</a:t>
            </a:r>
          </a:p>
          <a:p>
            <a:pPr algn="l"/>
            <a:r>
              <a:rPr lang="en-GB" sz="1800" b="0" i="0" u="none" strike="noStrike" baseline="0" dirty="0">
                <a:solidFill>
                  <a:srgbClr val="0D0D0D"/>
                </a:solidFill>
                <a:latin typeface="ArialMT"/>
              </a:rPr>
              <a:t>17.What is the average household income distribution in each state based on the </a:t>
            </a:r>
            <a:r>
              <a:rPr lang="en-IN" sz="1800" b="0" i="0" u="none" strike="noStrike" baseline="0" dirty="0">
                <a:solidFill>
                  <a:srgbClr val="0D0D0D"/>
                </a:solidFill>
                <a:latin typeface="ArialMT"/>
              </a:rPr>
              <a:t>power parity categories?</a:t>
            </a:r>
          </a:p>
          <a:p>
            <a:pPr algn="l"/>
            <a:r>
              <a:rPr lang="en-GB" sz="1800" b="0" i="0" u="none" strike="noStrike" baseline="0" dirty="0">
                <a:solidFill>
                  <a:srgbClr val="0D0D0D"/>
                </a:solidFill>
                <a:latin typeface="ArialMT"/>
              </a:rPr>
              <a:t>18.What is the percentage of married couples with different household sizes in </a:t>
            </a:r>
            <a:r>
              <a:rPr lang="en-IN" sz="1800" b="0" i="0" u="none" strike="noStrike" baseline="0" dirty="0">
                <a:solidFill>
                  <a:srgbClr val="0D0D0D"/>
                </a:solidFill>
                <a:latin typeface="ArialMT"/>
              </a:rPr>
              <a:t>each state?</a:t>
            </a:r>
          </a:p>
          <a:p>
            <a:pPr algn="l"/>
            <a:r>
              <a:rPr lang="en-GB" sz="1800" b="0" i="0" u="none" strike="noStrike" baseline="0" dirty="0">
                <a:solidFill>
                  <a:srgbClr val="0D0D0D"/>
                </a:solidFill>
                <a:latin typeface="ArialMT"/>
              </a:rPr>
              <a:t>19.How many households fall below the poverty line in each state based on the </a:t>
            </a:r>
            <a:r>
              <a:rPr lang="en-IN" sz="1800" b="0" i="0" u="none" strike="noStrike" baseline="0" dirty="0">
                <a:solidFill>
                  <a:srgbClr val="0D0D0D"/>
                </a:solidFill>
                <a:latin typeface="ArialMT"/>
              </a:rPr>
              <a:t>power parity categories?</a:t>
            </a:r>
          </a:p>
          <a:p>
            <a:pPr algn="l"/>
            <a:r>
              <a:rPr lang="en-GB" sz="1800" b="0" i="0" u="none" strike="noStrike" baseline="0" dirty="0">
                <a:solidFill>
                  <a:srgbClr val="0D0D0D"/>
                </a:solidFill>
                <a:latin typeface="ArialMT"/>
              </a:rPr>
              <a:t>20.What is the overall literacy rate (percentage of literate population) in each </a:t>
            </a:r>
            <a:r>
              <a:rPr lang="en-IN" sz="1800" b="0" i="0" u="none" strike="noStrike" baseline="0" dirty="0">
                <a:solidFill>
                  <a:srgbClr val="0D0D0D"/>
                </a:solidFill>
                <a:latin typeface="ArialMT"/>
              </a:rPr>
              <a:t>state?</a:t>
            </a:r>
            <a:endParaRPr lang="en-IN" dirty="0"/>
          </a:p>
        </p:txBody>
      </p:sp>
    </p:spTree>
    <p:extLst>
      <p:ext uri="{BB962C8B-B14F-4D97-AF65-F5344CB8AC3E}">
        <p14:creationId xmlns:p14="http://schemas.microsoft.com/office/powerpoint/2010/main" val="4061907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860AE-DD51-AE88-AFB7-3E6472877409}"/>
              </a:ext>
            </a:extLst>
          </p:cNvPr>
          <p:cNvSpPr>
            <a:spLocks noGrp="1"/>
          </p:cNvSpPr>
          <p:nvPr>
            <p:ph type="title"/>
          </p:nvPr>
        </p:nvSpPr>
        <p:spPr>
          <a:xfrm>
            <a:off x="677334" y="609600"/>
            <a:ext cx="8596668" cy="726141"/>
          </a:xfrm>
        </p:spPr>
        <p:txBody>
          <a:bodyPr/>
          <a:lstStyle/>
          <a:p>
            <a:r>
              <a:rPr lang="en-GB" dirty="0"/>
              <a:t>Tools Used</a:t>
            </a:r>
            <a:endParaRPr lang="en-IN" dirty="0"/>
          </a:p>
        </p:txBody>
      </p:sp>
      <p:sp>
        <p:nvSpPr>
          <p:cNvPr id="3" name="Content Placeholder 2">
            <a:extLst>
              <a:ext uri="{FF2B5EF4-FFF2-40B4-BE49-F238E27FC236}">
                <a16:creationId xmlns:a16="http://schemas.microsoft.com/office/drawing/2014/main" id="{1268A886-ABC6-CC60-3BBF-98268139D5D3}"/>
              </a:ext>
            </a:extLst>
          </p:cNvPr>
          <p:cNvSpPr>
            <a:spLocks noGrp="1"/>
          </p:cNvSpPr>
          <p:nvPr>
            <p:ph idx="1"/>
          </p:nvPr>
        </p:nvSpPr>
        <p:spPr>
          <a:xfrm>
            <a:off x="677334" y="1488614"/>
            <a:ext cx="8596668" cy="2330352"/>
          </a:xfrm>
        </p:spPr>
        <p:txBody>
          <a:bodyPr>
            <a:noAutofit/>
          </a:bodyPr>
          <a:lstStyle/>
          <a:p>
            <a:r>
              <a:rPr lang="en-GB" sz="1000" dirty="0"/>
              <a:t>Programming Language – Python</a:t>
            </a:r>
          </a:p>
          <a:p>
            <a:pPr lvl="6"/>
            <a:r>
              <a:rPr lang="en-GB" sz="1000" dirty="0"/>
              <a:t>Pandas</a:t>
            </a:r>
          </a:p>
          <a:p>
            <a:pPr lvl="6"/>
            <a:r>
              <a:rPr lang="en-GB" sz="1000" dirty="0" err="1"/>
              <a:t>Sqlalchemy</a:t>
            </a:r>
            <a:endParaRPr lang="en-GB" sz="1000" dirty="0"/>
          </a:p>
          <a:p>
            <a:pPr lvl="6"/>
            <a:r>
              <a:rPr lang="en-GB" sz="1000" dirty="0" err="1"/>
              <a:t>Pymongo</a:t>
            </a:r>
            <a:endParaRPr lang="en-GB" sz="1000" dirty="0"/>
          </a:p>
          <a:p>
            <a:pPr lvl="6"/>
            <a:r>
              <a:rPr lang="en-GB" sz="1000" dirty="0" err="1"/>
              <a:t>Openpyxl</a:t>
            </a:r>
            <a:endParaRPr lang="en-GB" sz="1000" dirty="0"/>
          </a:p>
          <a:p>
            <a:pPr lvl="6"/>
            <a:r>
              <a:rPr lang="en-GB" sz="1000" dirty="0" err="1"/>
              <a:t>Plotly</a:t>
            </a:r>
            <a:endParaRPr lang="en-GB" sz="1000" dirty="0"/>
          </a:p>
          <a:p>
            <a:pPr lvl="6"/>
            <a:r>
              <a:rPr lang="en-GB" sz="1000" dirty="0" err="1"/>
              <a:t>streamlit</a:t>
            </a:r>
            <a:endParaRPr lang="en-GB" sz="1000" dirty="0"/>
          </a:p>
          <a:p>
            <a:pPr lvl="7"/>
            <a:endParaRPr lang="en-GB" sz="1000" dirty="0"/>
          </a:p>
          <a:p>
            <a:r>
              <a:rPr lang="en-GB" sz="1000" dirty="0"/>
              <a:t>Version Control: Git</a:t>
            </a:r>
          </a:p>
          <a:p>
            <a:r>
              <a:rPr lang="en-GB" sz="1000" dirty="0"/>
              <a:t>Database – Relational: </a:t>
            </a:r>
            <a:r>
              <a:rPr lang="en-GB" sz="1000" dirty="0" err="1"/>
              <a:t>Postgresql</a:t>
            </a:r>
            <a:endParaRPr lang="en-GB" sz="1000" dirty="0"/>
          </a:p>
          <a:p>
            <a:pPr marL="457200" lvl="1" indent="0">
              <a:buNone/>
            </a:pPr>
            <a:r>
              <a:rPr lang="en-GB" sz="1000" dirty="0"/>
              <a:t>              Non-Relational: </a:t>
            </a:r>
            <a:r>
              <a:rPr lang="en-GB" sz="1000" dirty="0" err="1"/>
              <a:t>Mongodb</a:t>
            </a:r>
            <a:r>
              <a:rPr lang="en-GB" sz="1000" dirty="0"/>
              <a:t> </a:t>
            </a:r>
            <a:endParaRPr lang="en-IN" sz="1000" dirty="0"/>
          </a:p>
          <a:p>
            <a:pPr marL="1371600" lvl="3" indent="0">
              <a:buNone/>
            </a:pPr>
            <a:endParaRPr lang="en-GB" sz="1000" dirty="0"/>
          </a:p>
        </p:txBody>
      </p:sp>
    </p:spTree>
    <p:extLst>
      <p:ext uri="{BB962C8B-B14F-4D97-AF65-F5344CB8AC3E}">
        <p14:creationId xmlns:p14="http://schemas.microsoft.com/office/powerpoint/2010/main" val="2447273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E8947-A63F-1E92-AD40-DF0B98B5E043}"/>
              </a:ext>
            </a:extLst>
          </p:cNvPr>
          <p:cNvSpPr>
            <a:spLocks noGrp="1"/>
          </p:cNvSpPr>
          <p:nvPr>
            <p:ph type="title"/>
          </p:nvPr>
        </p:nvSpPr>
        <p:spPr>
          <a:xfrm>
            <a:off x="677334" y="609600"/>
            <a:ext cx="8596668" cy="636494"/>
          </a:xfrm>
        </p:spPr>
        <p:txBody>
          <a:bodyPr/>
          <a:lstStyle/>
          <a:p>
            <a:r>
              <a:rPr lang="en-GB" sz="1800" b="1" i="0" u="none" strike="noStrike" baseline="0" dirty="0">
                <a:latin typeface="Arial-BoldMT"/>
              </a:rPr>
              <a:t>Missing Data Before and After</a:t>
            </a:r>
            <a:endParaRPr lang="en-IN" dirty="0"/>
          </a:p>
        </p:txBody>
      </p:sp>
      <p:sp>
        <p:nvSpPr>
          <p:cNvPr id="3" name="Content Placeholder 2">
            <a:extLst>
              <a:ext uri="{FF2B5EF4-FFF2-40B4-BE49-F238E27FC236}">
                <a16:creationId xmlns:a16="http://schemas.microsoft.com/office/drawing/2014/main" id="{586352C3-7495-883C-9360-BE9A46DAEC6F}"/>
              </a:ext>
            </a:extLst>
          </p:cNvPr>
          <p:cNvSpPr>
            <a:spLocks noGrp="1"/>
          </p:cNvSpPr>
          <p:nvPr>
            <p:ph idx="1"/>
          </p:nvPr>
        </p:nvSpPr>
        <p:spPr>
          <a:xfrm>
            <a:off x="677334" y="1246094"/>
            <a:ext cx="8596668" cy="1156447"/>
          </a:xfrm>
        </p:spPr>
        <p:txBody>
          <a:bodyPr/>
          <a:lstStyle/>
          <a:p>
            <a:r>
              <a:rPr lang="en-GB" dirty="0"/>
              <a:t>Missing Data before cleaning – 3622 records</a:t>
            </a:r>
          </a:p>
          <a:p>
            <a:r>
              <a:rPr lang="en-GB" dirty="0"/>
              <a:t>Missing Data after cleaning – 2091 records</a:t>
            </a:r>
            <a:endParaRPr lang="en-IN" dirty="0"/>
          </a:p>
        </p:txBody>
      </p:sp>
      <p:pic>
        <p:nvPicPr>
          <p:cNvPr id="9" name="Picture 8">
            <a:extLst>
              <a:ext uri="{FF2B5EF4-FFF2-40B4-BE49-F238E27FC236}">
                <a16:creationId xmlns:a16="http://schemas.microsoft.com/office/drawing/2014/main" id="{2B6E72B0-E75A-4A19-9DCD-FCD1FB2BD306}"/>
              </a:ext>
            </a:extLst>
          </p:cNvPr>
          <p:cNvPicPr>
            <a:picLocks noChangeAspect="1"/>
          </p:cNvPicPr>
          <p:nvPr/>
        </p:nvPicPr>
        <p:blipFill>
          <a:blip r:embed="rId2"/>
          <a:stretch>
            <a:fillRect/>
          </a:stretch>
        </p:blipFill>
        <p:spPr>
          <a:xfrm>
            <a:off x="677333" y="2097741"/>
            <a:ext cx="11310843" cy="4150659"/>
          </a:xfrm>
          <a:prstGeom prst="rect">
            <a:avLst/>
          </a:prstGeom>
        </p:spPr>
      </p:pic>
    </p:spTree>
    <p:extLst>
      <p:ext uri="{BB962C8B-B14F-4D97-AF65-F5344CB8AC3E}">
        <p14:creationId xmlns:p14="http://schemas.microsoft.com/office/powerpoint/2010/main" val="2651543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7DD4D-46ED-95F0-3596-C3734B317708}"/>
              </a:ext>
            </a:extLst>
          </p:cNvPr>
          <p:cNvSpPr>
            <a:spLocks noGrp="1"/>
          </p:cNvSpPr>
          <p:nvPr>
            <p:ph type="title"/>
          </p:nvPr>
        </p:nvSpPr>
        <p:spPr>
          <a:xfrm>
            <a:off x="677334" y="609600"/>
            <a:ext cx="8596668" cy="717176"/>
          </a:xfrm>
        </p:spPr>
        <p:txBody>
          <a:bodyPr/>
          <a:lstStyle/>
          <a:p>
            <a:r>
              <a:rPr lang="en-GB" sz="1800" b="1" dirty="0">
                <a:latin typeface="Arial-BoldMT"/>
              </a:rPr>
              <a:t>Missing</a:t>
            </a:r>
            <a:r>
              <a:rPr lang="en-GB" sz="3600" b="1" i="0" u="none" strike="noStrike" baseline="0" dirty="0">
                <a:latin typeface="Arial-BoldMT"/>
              </a:rPr>
              <a:t> </a:t>
            </a:r>
            <a:r>
              <a:rPr lang="en-GB" sz="1800" b="1" dirty="0">
                <a:latin typeface="Arial-BoldMT"/>
              </a:rPr>
              <a:t>Data Before and After</a:t>
            </a:r>
            <a:endParaRPr lang="en-IN" sz="1800" b="1" dirty="0">
              <a:latin typeface="Arial-BoldMT"/>
            </a:endParaRPr>
          </a:p>
        </p:txBody>
      </p:sp>
      <p:pic>
        <p:nvPicPr>
          <p:cNvPr id="5" name="Picture 4">
            <a:extLst>
              <a:ext uri="{FF2B5EF4-FFF2-40B4-BE49-F238E27FC236}">
                <a16:creationId xmlns:a16="http://schemas.microsoft.com/office/drawing/2014/main" id="{3DC468B1-D305-4E31-DABB-1164316B536D}"/>
              </a:ext>
            </a:extLst>
          </p:cNvPr>
          <p:cNvPicPr>
            <a:picLocks noChangeAspect="1"/>
          </p:cNvPicPr>
          <p:nvPr/>
        </p:nvPicPr>
        <p:blipFill>
          <a:blip r:embed="rId2"/>
          <a:stretch>
            <a:fillRect/>
          </a:stretch>
        </p:blipFill>
        <p:spPr>
          <a:xfrm>
            <a:off x="677334" y="1326776"/>
            <a:ext cx="8462682" cy="3157453"/>
          </a:xfrm>
          <a:prstGeom prst="rect">
            <a:avLst/>
          </a:prstGeom>
        </p:spPr>
      </p:pic>
    </p:spTree>
    <p:extLst>
      <p:ext uri="{BB962C8B-B14F-4D97-AF65-F5344CB8AC3E}">
        <p14:creationId xmlns:p14="http://schemas.microsoft.com/office/powerpoint/2010/main" val="2692299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CF641-B789-7414-ACBB-75161C360967}"/>
              </a:ext>
            </a:extLst>
          </p:cNvPr>
          <p:cNvSpPr>
            <a:spLocks noGrp="1"/>
          </p:cNvSpPr>
          <p:nvPr>
            <p:ph type="title"/>
          </p:nvPr>
        </p:nvSpPr>
        <p:spPr>
          <a:xfrm>
            <a:off x="677334" y="609600"/>
            <a:ext cx="8596668" cy="466165"/>
          </a:xfrm>
        </p:spPr>
        <p:txBody>
          <a:bodyPr/>
          <a:lstStyle/>
          <a:p>
            <a:r>
              <a:rPr lang="en-GB" sz="1800" b="1" dirty="0">
                <a:latin typeface="Arial-BoldMT"/>
              </a:rPr>
              <a:t>Missing Data Before and After</a:t>
            </a:r>
            <a:endParaRPr lang="en-IN" sz="1800" b="1" dirty="0">
              <a:latin typeface="Arial-BoldMT"/>
            </a:endParaRPr>
          </a:p>
        </p:txBody>
      </p:sp>
      <p:pic>
        <p:nvPicPr>
          <p:cNvPr id="5" name="Content Placeholder 4">
            <a:extLst>
              <a:ext uri="{FF2B5EF4-FFF2-40B4-BE49-F238E27FC236}">
                <a16:creationId xmlns:a16="http://schemas.microsoft.com/office/drawing/2014/main" id="{B79E1ED6-ECE2-96DC-C24B-7958E722E5A2}"/>
              </a:ext>
            </a:extLst>
          </p:cNvPr>
          <p:cNvPicPr>
            <a:picLocks noGrp="1" noChangeAspect="1"/>
          </p:cNvPicPr>
          <p:nvPr>
            <p:ph idx="1"/>
          </p:nvPr>
        </p:nvPicPr>
        <p:blipFill>
          <a:blip r:embed="rId2"/>
          <a:stretch>
            <a:fillRect/>
          </a:stretch>
        </p:blipFill>
        <p:spPr>
          <a:xfrm>
            <a:off x="677690" y="1075765"/>
            <a:ext cx="8596312" cy="3230403"/>
          </a:xfrm>
        </p:spPr>
      </p:pic>
    </p:spTree>
    <p:extLst>
      <p:ext uri="{BB962C8B-B14F-4D97-AF65-F5344CB8AC3E}">
        <p14:creationId xmlns:p14="http://schemas.microsoft.com/office/powerpoint/2010/main" val="531826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864AD-2E9B-4A90-08A3-813E82CB76B5}"/>
              </a:ext>
            </a:extLst>
          </p:cNvPr>
          <p:cNvSpPr>
            <a:spLocks noGrp="1"/>
          </p:cNvSpPr>
          <p:nvPr>
            <p:ph type="title"/>
          </p:nvPr>
        </p:nvSpPr>
        <p:spPr>
          <a:xfrm>
            <a:off x="677334" y="609599"/>
            <a:ext cx="8596668" cy="358589"/>
          </a:xfrm>
        </p:spPr>
        <p:txBody>
          <a:bodyPr>
            <a:normAutofit fontScale="90000"/>
          </a:bodyPr>
          <a:lstStyle/>
          <a:p>
            <a:r>
              <a:rPr lang="en-GB" sz="1800" b="1" dirty="0">
                <a:latin typeface="Arial-BoldMT"/>
              </a:rPr>
              <a:t>Missing Data Before and After</a:t>
            </a:r>
            <a:endParaRPr lang="en-IN" sz="1800" b="1" dirty="0">
              <a:latin typeface="Arial-BoldMT"/>
            </a:endParaRPr>
          </a:p>
        </p:txBody>
      </p:sp>
      <p:pic>
        <p:nvPicPr>
          <p:cNvPr id="5" name="Content Placeholder 4">
            <a:extLst>
              <a:ext uri="{FF2B5EF4-FFF2-40B4-BE49-F238E27FC236}">
                <a16:creationId xmlns:a16="http://schemas.microsoft.com/office/drawing/2014/main" id="{1B784BA0-D080-15E0-1AE7-E61F96EB309A}"/>
              </a:ext>
            </a:extLst>
          </p:cNvPr>
          <p:cNvPicPr>
            <a:picLocks noGrp="1" noChangeAspect="1"/>
          </p:cNvPicPr>
          <p:nvPr>
            <p:ph idx="1"/>
          </p:nvPr>
        </p:nvPicPr>
        <p:blipFill>
          <a:blip r:embed="rId2"/>
          <a:stretch>
            <a:fillRect/>
          </a:stretch>
        </p:blipFill>
        <p:spPr>
          <a:xfrm>
            <a:off x="677690" y="968188"/>
            <a:ext cx="8596312" cy="3162793"/>
          </a:xfrm>
        </p:spPr>
      </p:pic>
      <p:pic>
        <p:nvPicPr>
          <p:cNvPr id="7" name="Picture 6">
            <a:extLst>
              <a:ext uri="{FF2B5EF4-FFF2-40B4-BE49-F238E27FC236}">
                <a16:creationId xmlns:a16="http://schemas.microsoft.com/office/drawing/2014/main" id="{B811D989-2E9A-2C1F-EEBA-60B251EB8B58}"/>
              </a:ext>
            </a:extLst>
          </p:cNvPr>
          <p:cNvPicPr>
            <a:picLocks noChangeAspect="1"/>
          </p:cNvPicPr>
          <p:nvPr/>
        </p:nvPicPr>
        <p:blipFill>
          <a:blip r:embed="rId3"/>
          <a:stretch>
            <a:fillRect/>
          </a:stretch>
        </p:blipFill>
        <p:spPr>
          <a:xfrm>
            <a:off x="677333" y="4130981"/>
            <a:ext cx="8642785" cy="1023725"/>
          </a:xfrm>
          <a:prstGeom prst="rect">
            <a:avLst/>
          </a:prstGeom>
        </p:spPr>
      </p:pic>
    </p:spTree>
    <p:extLst>
      <p:ext uri="{BB962C8B-B14F-4D97-AF65-F5344CB8AC3E}">
        <p14:creationId xmlns:p14="http://schemas.microsoft.com/office/powerpoint/2010/main" val="3733817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9268D-A612-0EA8-2843-CE9D8564BE6E}"/>
              </a:ext>
            </a:extLst>
          </p:cNvPr>
          <p:cNvSpPr>
            <a:spLocks noGrp="1"/>
          </p:cNvSpPr>
          <p:nvPr>
            <p:ph type="title"/>
          </p:nvPr>
        </p:nvSpPr>
        <p:spPr>
          <a:xfrm>
            <a:off x="677334" y="609600"/>
            <a:ext cx="8596668" cy="493059"/>
          </a:xfrm>
        </p:spPr>
        <p:txBody>
          <a:bodyPr/>
          <a:lstStyle/>
          <a:p>
            <a:r>
              <a:rPr lang="en-GB" sz="1800" b="0" i="0" u="none" strike="noStrike" baseline="0" dirty="0">
                <a:solidFill>
                  <a:srgbClr val="0D0D0D"/>
                </a:solidFill>
                <a:latin typeface="ArialMT"/>
              </a:rPr>
              <a:t>What is the total population of each district?</a:t>
            </a:r>
            <a:endParaRPr lang="en-IN" dirty="0"/>
          </a:p>
        </p:txBody>
      </p:sp>
      <p:pic>
        <p:nvPicPr>
          <p:cNvPr id="9" name="Content Placeholder 8">
            <a:extLst>
              <a:ext uri="{FF2B5EF4-FFF2-40B4-BE49-F238E27FC236}">
                <a16:creationId xmlns:a16="http://schemas.microsoft.com/office/drawing/2014/main" id="{16A22693-0B41-8410-18BB-732A8365DEAF}"/>
              </a:ext>
            </a:extLst>
          </p:cNvPr>
          <p:cNvPicPr>
            <a:picLocks noGrp="1" noChangeAspect="1"/>
          </p:cNvPicPr>
          <p:nvPr>
            <p:ph idx="1"/>
          </p:nvPr>
        </p:nvPicPr>
        <p:blipFill>
          <a:blip r:embed="rId2"/>
          <a:stretch>
            <a:fillRect/>
          </a:stretch>
        </p:blipFill>
        <p:spPr>
          <a:xfrm>
            <a:off x="749579" y="1102659"/>
            <a:ext cx="8596312" cy="2400358"/>
          </a:xfrm>
        </p:spPr>
      </p:pic>
      <p:sp>
        <p:nvSpPr>
          <p:cNvPr id="10" name="TextBox 9">
            <a:extLst>
              <a:ext uri="{FF2B5EF4-FFF2-40B4-BE49-F238E27FC236}">
                <a16:creationId xmlns:a16="http://schemas.microsoft.com/office/drawing/2014/main" id="{DDF29EAD-72CA-852C-E714-617B2A4B953D}"/>
              </a:ext>
            </a:extLst>
          </p:cNvPr>
          <p:cNvSpPr txBox="1"/>
          <p:nvPr/>
        </p:nvSpPr>
        <p:spPr>
          <a:xfrm>
            <a:off x="749579" y="4150658"/>
            <a:ext cx="8735079" cy="646331"/>
          </a:xfrm>
          <a:prstGeom prst="rect">
            <a:avLst/>
          </a:prstGeom>
          <a:noFill/>
        </p:spPr>
        <p:txBody>
          <a:bodyPr wrap="square" rtlCol="0">
            <a:spAutoFit/>
          </a:bodyPr>
          <a:lstStyle/>
          <a:p>
            <a:r>
              <a:rPr lang="en-GB" dirty="0"/>
              <a:t>Densely populated District is Thane : 11,06015 Million</a:t>
            </a:r>
          </a:p>
          <a:p>
            <a:r>
              <a:rPr lang="en-IN" dirty="0"/>
              <a:t>District with lowest population </a:t>
            </a:r>
            <a:r>
              <a:rPr lang="en-IN" dirty="0" err="1"/>
              <a:t>Dibung</a:t>
            </a:r>
            <a:r>
              <a:rPr lang="en-IN" dirty="0"/>
              <a:t> Valley : 8,004 </a:t>
            </a:r>
          </a:p>
        </p:txBody>
      </p:sp>
    </p:spTree>
    <p:extLst>
      <p:ext uri="{BB962C8B-B14F-4D97-AF65-F5344CB8AC3E}">
        <p14:creationId xmlns:p14="http://schemas.microsoft.com/office/powerpoint/2010/main" val="753872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145B-B5B9-0EA0-52CE-F7DDD99A1C32}"/>
              </a:ext>
            </a:extLst>
          </p:cNvPr>
          <p:cNvSpPr>
            <a:spLocks noGrp="1"/>
          </p:cNvSpPr>
          <p:nvPr>
            <p:ph type="title"/>
          </p:nvPr>
        </p:nvSpPr>
        <p:spPr>
          <a:xfrm>
            <a:off x="677334" y="609600"/>
            <a:ext cx="8596668" cy="555812"/>
          </a:xfrm>
        </p:spPr>
        <p:txBody>
          <a:bodyPr/>
          <a:lstStyle/>
          <a:p>
            <a:r>
              <a:rPr lang="en-GB" sz="1800" b="0" i="0" u="none" strike="noStrike" baseline="0" dirty="0">
                <a:solidFill>
                  <a:srgbClr val="0D0D0D"/>
                </a:solidFill>
                <a:latin typeface="ArialMT"/>
              </a:rPr>
              <a:t>How many literate males and females are there in each district?</a:t>
            </a:r>
            <a:endParaRPr lang="en-IN" dirty="0"/>
          </a:p>
        </p:txBody>
      </p:sp>
      <p:pic>
        <p:nvPicPr>
          <p:cNvPr id="5" name="Content Placeholder 4">
            <a:extLst>
              <a:ext uri="{FF2B5EF4-FFF2-40B4-BE49-F238E27FC236}">
                <a16:creationId xmlns:a16="http://schemas.microsoft.com/office/drawing/2014/main" id="{DE6D48B1-B712-4BF8-EF4E-6F41AF96DDAD}"/>
              </a:ext>
            </a:extLst>
          </p:cNvPr>
          <p:cNvPicPr>
            <a:picLocks noGrp="1" noChangeAspect="1"/>
          </p:cNvPicPr>
          <p:nvPr>
            <p:ph idx="1"/>
          </p:nvPr>
        </p:nvPicPr>
        <p:blipFill>
          <a:blip r:embed="rId2"/>
          <a:stretch>
            <a:fillRect/>
          </a:stretch>
        </p:blipFill>
        <p:spPr>
          <a:xfrm>
            <a:off x="677690" y="1165412"/>
            <a:ext cx="8596312" cy="2590355"/>
          </a:xfrm>
        </p:spPr>
      </p:pic>
      <p:sp>
        <p:nvSpPr>
          <p:cNvPr id="6" name="TextBox 5">
            <a:extLst>
              <a:ext uri="{FF2B5EF4-FFF2-40B4-BE49-F238E27FC236}">
                <a16:creationId xmlns:a16="http://schemas.microsoft.com/office/drawing/2014/main" id="{4C154F94-7F9E-881A-382C-DA02392EDED6}"/>
              </a:ext>
            </a:extLst>
          </p:cNvPr>
          <p:cNvSpPr txBox="1"/>
          <p:nvPr/>
        </p:nvSpPr>
        <p:spPr>
          <a:xfrm>
            <a:off x="677334" y="4043082"/>
            <a:ext cx="8789395" cy="1754326"/>
          </a:xfrm>
          <a:prstGeom prst="rect">
            <a:avLst/>
          </a:prstGeom>
          <a:noFill/>
        </p:spPr>
        <p:txBody>
          <a:bodyPr wrap="square" rtlCol="0">
            <a:spAutoFit/>
          </a:bodyPr>
          <a:lstStyle/>
          <a:p>
            <a:r>
              <a:rPr lang="en-GB" dirty="0"/>
              <a:t>Districts with high Female and Male literates:</a:t>
            </a:r>
          </a:p>
          <a:p>
            <a:r>
              <a:rPr lang="en-GB" dirty="0"/>
              <a:t>	Male Literate : Thane – 4.591 Million</a:t>
            </a:r>
          </a:p>
          <a:p>
            <a:r>
              <a:rPr lang="en-GB" dirty="0"/>
              <a:t>	Female Literate : Thane – 3.635 Million</a:t>
            </a:r>
          </a:p>
          <a:p>
            <a:r>
              <a:rPr lang="en-GB" dirty="0"/>
              <a:t>Districts with low Female and Male Literates:</a:t>
            </a:r>
          </a:p>
          <a:p>
            <a:r>
              <a:rPr lang="en-IN" dirty="0"/>
              <a:t>	</a:t>
            </a:r>
            <a:r>
              <a:rPr lang="en-GB" dirty="0"/>
              <a:t>Male Literate : </a:t>
            </a:r>
            <a:r>
              <a:rPr lang="en-IN" dirty="0" err="1"/>
              <a:t>Dibung</a:t>
            </a:r>
            <a:r>
              <a:rPr lang="en-IN" dirty="0"/>
              <a:t> Valley</a:t>
            </a:r>
            <a:r>
              <a:rPr lang="en-GB" dirty="0"/>
              <a:t> – 2,614 </a:t>
            </a:r>
          </a:p>
          <a:p>
            <a:r>
              <a:rPr lang="en-GB" dirty="0"/>
              <a:t>	Female Literate : </a:t>
            </a:r>
            <a:r>
              <a:rPr lang="en-IN" dirty="0" err="1"/>
              <a:t>Dibung</a:t>
            </a:r>
            <a:r>
              <a:rPr lang="en-IN" dirty="0"/>
              <a:t> Valley</a:t>
            </a:r>
            <a:r>
              <a:rPr lang="en-GB" dirty="0"/>
              <a:t> – 1822</a:t>
            </a:r>
          </a:p>
        </p:txBody>
      </p:sp>
    </p:spTree>
    <p:extLst>
      <p:ext uri="{BB962C8B-B14F-4D97-AF65-F5344CB8AC3E}">
        <p14:creationId xmlns:p14="http://schemas.microsoft.com/office/powerpoint/2010/main" val="730034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93E01-0A55-3B59-F069-9D71DB7CF12C}"/>
              </a:ext>
            </a:extLst>
          </p:cNvPr>
          <p:cNvSpPr>
            <a:spLocks noGrp="1"/>
          </p:cNvSpPr>
          <p:nvPr>
            <p:ph type="title"/>
          </p:nvPr>
        </p:nvSpPr>
        <p:spPr>
          <a:xfrm>
            <a:off x="677334" y="609600"/>
            <a:ext cx="8596668" cy="564776"/>
          </a:xfrm>
        </p:spPr>
        <p:txBody>
          <a:bodyPr/>
          <a:lstStyle/>
          <a:p>
            <a:r>
              <a:rPr lang="en-GB" sz="1800" b="0" i="0" u="none" strike="noStrike" baseline="0" dirty="0">
                <a:solidFill>
                  <a:srgbClr val="0D0D0D"/>
                </a:solidFill>
                <a:latin typeface="ArialMT"/>
              </a:rPr>
              <a:t>What is the percentage of workers (both male and female) in each district?</a:t>
            </a:r>
            <a:endParaRPr lang="en-IN" dirty="0"/>
          </a:p>
        </p:txBody>
      </p:sp>
      <p:pic>
        <p:nvPicPr>
          <p:cNvPr id="9" name="Content Placeholder 8">
            <a:extLst>
              <a:ext uri="{FF2B5EF4-FFF2-40B4-BE49-F238E27FC236}">
                <a16:creationId xmlns:a16="http://schemas.microsoft.com/office/drawing/2014/main" id="{86FFD400-C841-D3E1-71B7-4FDAED3F1846}"/>
              </a:ext>
            </a:extLst>
          </p:cNvPr>
          <p:cNvPicPr>
            <a:picLocks noGrp="1" noChangeAspect="1"/>
          </p:cNvPicPr>
          <p:nvPr>
            <p:ph idx="1"/>
          </p:nvPr>
        </p:nvPicPr>
        <p:blipFill>
          <a:blip r:embed="rId2"/>
          <a:stretch>
            <a:fillRect/>
          </a:stretch>
        </p:blipFill>
        <p:spPr>
          <a:xfrm>
            <a:off x="758499" y="1174376"/>
            <a:ext cx="8058522" cy="3881437"/>
          </a:xfrm>
        </p:spPr>
      </p:pic>
      <p:sp>
        <p:nvSpPr>
          <p:cNvPr id="10" name="TextBox 9">
            <a:extLst>
              <a:ext uri="{FF2B5EF4-FFF2-40B4-BE49-F238E27FC236}">
                <a16:creationId xmlns:a16="http://schemas.microsoft.com/office/drawing/2014/main" id="{EBD94BFD-68EE-779D-D9BE-13C38F49F5A2}"/>
              </a:ext>
            </a:extLst>
          </p:cNvPr>
          <p:cNvSpPr txBox="1"/>
          <p:nvPr/>
        </p:nvSpPr>
        <p:spPr>
          <a:xfrm>
            <a:off x="851647" y="5298141"/>
            <a:ext cx="8058522" cy="1200329"/>
          </a:xfrm>
          <a:prstGeom prst="rect">
            <a:avLst/>
          </a:prstGeom>
          <a:noFill/>
        </p:spPr>
        <p:txBody>
          <a:bodyPr wrap="square" rtlCol="0">
            <a:spAutoFit/>
          </a:bodyPr>
          <a:lstStyle/>
          <a:p>
            <a:r>
              <a:rPr lang="en-GB" dirty="0"/>
              <a:t>District with Highest Male workers : North East with nearly 90% </a:t>
            </a:r>
          </a:p>
          <a:p>
            <a:r>
              <a:rPr lang="en-GB" dirty="0"/>
              <a:t>District with Highest Female workers: </a:t>
            </a:r>
            <a:r>
              <a:rPr lang="en-GB" dirty="0" err="1"/>
              <a:t>Rudraprayag</a:t>
            </a:r>
            <a:r>
              <a:rPr lang="en-GB" dirty="0"/>
              <a:t> with nearly 54%</a:t>
            </a:r>
          </a:p>
          <a:p>
            <a:r>
              <a:rPr lang="en-GB" dirty="0"/>
              <a:t>District with Lowest Male workers : </a:t>
            </a:r>
            <a:r>
              <a:rPr lang="en-GB" dirty="0" err="1"/>
              <a:t>Rudraprayag</a:t>
            </a:r>
            <a:r>
              <a:rPr lang="en-GB" dirty="0"/>
              <a:t> with nearly 47%</a:t>
            </a:r>
          </a:p>
          <a:p>
            <a:r>
              <a:rPr lang="en-GB" dirty="0"/>
              <a:t>District with Lowest Female workers : North East with nearly 10%</a:t>
            </a:r>
            <a:endParaRPr lang="en-IN" dirty="0"/>
          </a:p>
        </p:txBody>
      </p:sp>
    </p:spTree>
    <p:extLst>
      <p:ext uri="{BB962C8B-B14F-4D97-AF65-F5344CB8AC3E}">
        <p14:creationId xmlns:p14="http://schemas.microsoft.com/office/powerpoint/2010/main" val="1856530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52D41-4A8D-FBC8-13C1-387C9E3708E0}"/>
              </a:ext>
            </a:extLst>
          </p:cNvPr>
          <p:cNvSpPr>
            <a:spLocks noGrp="1"/>
          </p:cNvSpPr>
          <p:nvPr>
            <p:ph type="title"/>
          </p:nvPr>
        </p:nvSpPr>
        <p:spPr>
          <a:xfrm>
            <a:off x="677334" y="609600"/>
            <a:ext cx="8596668" cy="735106"/>
          </a:xfrm>
        </p:spPr>
        <p:txBody>
          <a:bodyPr/>
          <a:lstStyle/>
          <a:p>
            <a:r>
              <a:rPr lang="en-GB" sz="1800" b="0" i="0" u="none" strike="noStrike" baseline="0" dirty="0">
                <a:solidFill>
                  <a:srgbClr val="0D0D0D"/>
                </a:solidFill>
                <a:latin typeface="ArialMT"/>
              </a:rPr>
              <a:t>How many households have access to LPG or PNG as a cooking fuel in each</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district?</a:t>
            </a:r>
            <a:endParaRPr lang="en-IN" dirty="0"/>
          </a:p>
        </p:txBody>
      </p:sp>
      <p:pic>
        <p:nvPicPr>
          <p:cNvPr id="5" name="Content Placeholder 4">
            <a:extLst>
              <a:ext uri="{FF2B5EF4-FFF2-40B4-BE49-F238E27FC236}">
                <a16:creationId xmlns:a16="http://schemas.microsoft.com/office/drawing/2014/main" id="{4B412DE4-B732-F356-80D2-996EBB2A0E23}"/>
              </a:ext>
            </a:extLst>
          </p:cNvPr>
          <p:cNvPicPr>
            <a:picLocks noGrp="1" noChangeAspect="1"/>
          </p:cNvPicPr>
          <p:nvPr>
            <p:ph idx="1"/>
          </p:nvPr>
        </p:nvPicPr>
        <p:blipFill>
          <a:blip r:embed="rId2"/>
          <a:stretch>
            <a:fillRect/>
          </a:stretch>
        </p:blipFill>
        <p:spPr>
          <a:xfrm>
            <a:off x="776970" y="1344613"/>
            <a:ext cx="8398097" cy="3881437"/>
          </a:xfrm>
        </p:spPr>
      </p:pic>
      <p:sp>
        <p:nvSpPr>
          <p:cNvPr id="6" name="TextBox 5">
            <a:extLst>
              <a:ext uri="{FF2B5EF4-FFF2-40B4-BE49-F238E27FC236}">
                <a16:creationId xmlns:a16="http://schemas.microsoft.com/office/drawing/2014/main" id="{60BCCA1A-FF3D-6523-9DE9-CC232B144C32}"/>
              </a:ext>
            </a:extLst>
          </p:cNvPr>
          <p:cNvSpPr txBox="1"/>
          <p:nvPr/>
        </p:nvSpPr>
        <p:spPr>
          <a:xfrm>
            <a:off x="762000" y="5450541"/>
            <a:ext cx="8596668" cy="646331"/>
          </a:xfrm>
          <a:prstGeom prst="rect">
            <a:avLst/>
          </a:prstGeom>
          <a:noFill/>
        </p:spPr>
        <p:txBody>
          <a:bodyPr wrap="square" rtlCol="0">
            <a:spAutoFit/>
          </a:bodyPr>
          <a:lstStyle/>
          <a:p>
            <a:r>
              <a:rPr lang="en-GB" dirty="0"/>
              <a:t>Bangalore has the highest LPG connections with nearly 1.8 Million</a:t>
            </a:r>
          </a:p>
          <a:p>
            <a:r>
              <a:rPr lang="en-GB" dirty="0" err="1"/>
              <a:t>Kiphire</a:t>
            </a:r>
            <a:r>
              <a:rPr lang="en-GB" dirty="0"/>
              <a:t> from Nagaland has the lowest LPG connections with just 120</a:t>
            </a:r>
            <a:endParaRPr lang="en-IN" dirty="0"/>
          </a:p>
        </p:txBody>
      </p:sp>
    </p:spTree>
    <p:extLst>
      <p:ext uri="{BB962C8B-B14F-4D97-AF65-F5344CB8AC3E}">
        <p14:creationId xmlns:p14="http://schemas.microsoft.com/office/powerpoint/2010/main" val="1870462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71FC1-865F-4317-3058-3DD93D70D3DD}"/>
              </a:ext>
            </a:extLst>
          </p:cNvPr>
          <p:cNvSpPr>
            <a:spLocks noGrp="1"/>
          </p:cNvSpPr>
          <p:nvPr>
            <p:ph type="title"/>
          </p:nvPr>
        </p:nvSpPr>
        <p:spPr>
          <a:xfrm>
            <a:off x="677334" y="609600"/>
            <a:ext cx="8596668" cy="753035"/>
          </a:xfrm>
        </p:spPr>
        <p:txBody>
          <a:bodyPr/>
          <a:lstStyle/>
          <a:p>
            <a:r>
              <a:rPr lang="en-GB" sz="1800" b="0" i="0" u="none" strike="noStrike" baseline="0" dirty="0">
                <a:solidFill>
                  <a:srgbClr val="0D0D0D"/>
                </a:solidFill>
                <a:latin typeface="ArialMT"/>
              </a:rPr>
              <a:t>What is the religious composition (Hindus, Muslims, Christians, etc.) of each</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district?</a:t>
            </a:r>
            <a:endParaRPr lang="en-IN" dirty="0"/>
          </a:p>
        </p:txBody>
      </p:sp>
      <p:pic>
        <p:nvPicPr>
          <p:cNvPr id="5" name="Content Placeholder 4">
            <a:extLst>
              <a:ext uri="{FF2B5EF4-FFF2-40B4-BE49-F238E27FC236}">
                <a16:creationId xmlns:a16="http://schemas.microsoft.com/office/drawing/2014/main" id="{BF9072E1-B669-605E-ABCC-26CFD21C6616}"/>
              </a:ext>
            </a:extLst>
          </p:cNvPr>
          <p:cNvPicPr>
            <a:picLocks noGrp="1" noChangeAspect="1"/>
          </p:cNvPicPr>
          <p:nvPr>
            <p:ph idx="1"/>
          </p:nvPr>
        </p:nvPicPr>
        <p:blipFill>
          <a:blip r:embed="rId2"/>
          <a:stretch>
            <a:fillRect/>
          </a:stretch>
        </p:blipFill>
        <p:spPr>
          <a:xfrm>
            <a:off x="975762" y="1362075"/>
            <a:ext cx="6662167" cy="3232141"/>
          </a:xfrm>
        </p:spPr>
      </p:pic>
      <p:sp>
        <p:nvSpPr>
          <p:cNvPr id="6" name="TextBox 5">
            <a:extLst>
              <a:ext uri="{FF2B5EF4-FFF2-40B4-BE49-F238E27FC236}">
                <a16:creationId xmlns:a16="http://schemas.microsoft.com/office/drawing/2014/main" id="{615BD579-0CEC-1108-C62D-33E61923FDB7}"/>
              </a:ext>
            </a:extLst>
          </p:cNvPr>
          <p:cNvSpPr txBox="1"/>
          <p:nvPr/>
        </p:nvSpPr>
        <p:spPr>
          <a:xfrm>
            <a:off x="886115" y="4686450"/>
            <a:ext cx="8596668" cy="2031325"/>
          </a:xfrm>
          <a:prstGeom prst="rect">
            <a:avLst/>
          </a:prstGeom>
          <a:noFill/>
        </p:spPr>
        <p:txBody>
          <a:bodyPr wrap="square" rtlCol="0">
            <a:spAutoFit/>
          </a:bodyPr>
          <a:lstStyle/>
          <a:p>
            <a:r>
              <a:rPr lang="en-GB" dirty="0"/>
              <a:t>Thane has the highest Hindu Population of around 8.8 Million</a:t>
            </a:r>
          </a:p>
          <a:p>
            <a:r>
              <a:rPr lang="en-GB" dirty="0" err="1"/>
              <a:t>Malapuram</a:t>
            </a:r>
            <a:r>
              <a:rPr lang="en-GB" dirty="0"/>
              <a:t> has the highest Muslim Population of around 2.8 Million</a:t>
            </a:r>
          </a:p>
          <a:p>
            <a:r>
              <a:rPr lang="en-GB" dirty="0"/>
              <a:t>Ernakulam has the highest Christian Population of around 1.25 Million</a:t>
            </a:r>
          </a:p>
          <a:p>
            <a:r>
              <a:rPr lang="en-GB" dirty="0"/>
              <a:t>Ludhiana with highest Sikhs of around 1.9 Million</a:t>
            </a:r>
          </a:p>
          <a:p>
            <a:r>
              <a:rPr lang="en-GB" dirty="0"/>
              <a:t>Nagpur with highest Buddhists of around 6.8 lakhs</a:t>
            </a:r>
          </a:p>
          <a:p>
            <a:r>
              <a:rPr lang="en-IN" dirty="0"/>
              <a:t>Mumbai Suburban with highest Jains of around 3.4 lakhs</a:t>
            </a:r>
          </a:p>
          <a:p>
            <a:r>
              <a:rPr lang="en-IN" dirty="0" err="1"/>
              <a:t>Pashchimi</a:t>
            </a:r>
            <a:r>
              <a:rPr lang="en-IN" dirty="0"/>
              <a:t> </a:t>
            </a:r>
            <a:r>
              <a:rPr lang="en-IN" dirty="0" err="1"/>
              <a:t>Singhbhum</a:t>
            </a:r>
            <a:r>
              <a:rPr lang="en-IN" dirty="0"/>
              <a:t> has the highest other religions with 9.4 lakhs</a:t>
            </a:r>
          </a:p>
        </p:txBody>
      </p:sp>
    </p:spTree>
    <p:extLst>
      <p:ext uri="{BB962C8B-B14F-4D97-AF65-F5344CB8AC3E}">
        <p14:creationId xmlns:p14="http://schemas.microsoft.com/office/powerpoint/2010/main" val="1020981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1FD79-2F0A-A47B-4953-D298AD3FB4C5}"/>
              </a:ext>
            </a:extLst>
          </p:cNvPr>
          <p:cNvSpPr>
            <a:spLocks noGrp="1"/>
          </p:cNvSpPr>
          <p:nvPr>
            <p:ph type="title"/>
          </p:nvPr>
        </p:nvSpPr>
        <p:spPr>
          <a:xfrm>
            <a:off x="677334" y="609600"/>
            <a:ext cx="8596668" cy="627529"/>
          </a:xfrm>
        </p:spPr>
        <p:txBody>
          <a:bodyPr/>
          <a:lstStyle/>
          <a:p>
            <a:r>
              <a:rPr lang="en-GB" sz="1800" b="0" i="0" u="none" strike="noStrike" baseline="0" dirty="0">
                <a:solidFill>
                  <a:srgbClr val="0D0D0D"/>
                </a:solidFill>
                <a:latin typeface="ArialMT"/>
              </a:rPr>
              <a:t>How many households have internet access in each district?</a:t>
            </a:r>
            <a:endParaRPr lang="en-IN" dirty="0"/>
          </a:p>
        </p:txBody>
      </p:sp>
      <p:pic>
        <p:nvPicPr>
          <p:cNvPr id="5" name="Content Placeholder 4">
            <a:extLst>
              <a:ext uri="{FF2B5EF4-FFF2-40B4-BE49-F238E27FC236}">
                <a16:creationId xmlns:a16="http://schemas.microsoft.com/office/drawing/2014/main" id="{95448470-E288-0C6E-0463-528B1EED10BC}"/>
              </a:ext>
            </a:extLst>
          </p:cNvPr>
          <p:cNvPicPr>
            <a:picLocks noGrp="1" noChangeAspect="1"/>
          </p:cNvPicPr>
          <p:nvPr>
            <p:ph idx="1"/>
          </p:nvPr>
        </p:nvPicPr>
        <p:blipFill>
          <a:blip r:embed="rId2"/>
          <a:stretch>
            <a:fillRect/>
          </a:stretch>
        </p:blipFill>
        <p:spPr>
          <a:xfrm>
            <a:off x="931698" y="1076325"/>
            <a:ext cx="7593738" cy="3642461"/>
          </a:xfrm>
        </p:spPr>
      </p:pic>
      <p:sp>
        <p:nvSpPr>
          <p:cNvPr id="6" name="TextBox 5">
            <a:extLst>
              <a:ext uri="{FF2B5EF4-FFF2-40B4-BE49-F238E27FC236}">
                <a16:creationId xmlns:a16="http://schemas.microsoft.com/office/drawing/2014/main" id="{91E94951-DF1A-DBA6-3E5B-ACFC301E63D1}"/>
              </a:ext>
            </a:extLst>
          </p:cNvPr>
          <p:cNvSpPr txBox="1"/>
          <p:nvPr/>
        </p:nvSpPr>
        <p:spPr>
          <a:xfrm>
            <a:off x="931698" y="4766960"/>
            <a:ext cx="8596668" cy="646331"/>
          </a:xfrm>
          <a:prstGeom prst="rect">
            <a:avLst/>
          </a:prstGeom>
          <a:noFill/>
        </p:spPr>
        <p:txBody>
          <a:bodyPr wrap="square" rtlCol="0">
            <a:spAutoFit/>
          </a:bodyPr>
          <a:lstStyle/>
          <a:p>
            <a:r>
              <a:rPr lang="en-GB" dirty="0"/>
              <a:t>Bangalore has the highest Internet consumption with 4.3 lakhs</a:t>
            </a:r>
          </a:p>
          <a:p>
            <a:r>
              <a:rPr lang="en-GB" dirty="0" err="1"/>
              <a:t>Dibang</a:t>
            </a:r>
            <a:r>
              <a:rPr lang="en-GB" dirty="0"/>
              <a:t> Valley being the lowest with 17</a:t>
            </a:r>
            <a:endParaRPr lang="en-IN" dirty="0"/>
          </a:p>
        </p:txBody>
      </p:sp>
    </p:spTree>
    <p:extLst>
      <p:ext uri="{BB962C8B-B14F-4D97-AF65-F5344CB8AC3E}">
        <p14:creationId xmlns:p14="http://schemas.microsoft.com/office/powerpoint/2010/main" val="1240766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F83F-FB76-32DB-E2E8-496A1AE9F8C0}"/>
              </a:ext>
            </a:extLst>
          </p:cNvPr>
          <p:cNvSpPr>
            <a:spLocks noGrp="1"/>
          </p:cNvSpPr>
          <p:nvPr>
            <p:ph type="title"/>
          </p:nvPr>
        </p:nvSpPr>
        <p:spPr>
          <a:xfrm>
            <a:off x="677334" y="609600"/>
            <a:ext cx="8596668" cy="744071"/>
          </a:xfrm>
        </p:spPr>
        <p:txBody>
          <a:bodyPr/>
          <a:lstStyle/>
          <a:p>
            <a:r>
              <a:rPr lang="en-GB" sz="1800" b="0" i="0" u="none" strike="noStrike" baseline="0" dirty="0">
                <a:solidFill>
                  <a:srgbClr val="0D0D0D"/>
                </a:solidFill>
                <a:latin typeface="ArialMT"/>
              </a:rPr>
              <a:t>What is the educational attainment distribution (below primary, primary,</a:t>
            </a:r>
            <a:br>
              <a:rPr lang="en-GB" sz="1800" b="0" i="0" u="none" strike="noStrike" baseline="0" dirty="0">
                <a:solidFill>
                  <a:srgbClr val="0D0D0D"/>
                </a:solidFill>
                <a:latin typeface="ArialMT"/>
              </a:rPr>
            </a:br>
            <a:r>
              <a:rPr lang="en-GB" sz="1800" b="0" i="0" u="none" strike="noStrike" baseline="0" dirty="0">
                <a:solidFill>
                  <a:srgbClr val="0D0D0D"/>
                </a:solidFill>
                <a:latin typeface="ArialMT"/>
              </a:rPr>
              <a:t>middle, secondary, etc.) in each district?</a:t>
            </a:r>
            <a:endParaRPr lang="en-IN" dirty="0"/>
          </a:p>
        </p:txBody>
      </p:sp>
      <p:pic>
        <p:nvPicPr>
          <p:cNvPr id="5" name="Content Placeholder 4">
            <a:extLst>
              <a:ext uri="{FF2B5EF4-FFF2-40B4-BE49-F238E27FC236}">
                <a16:creationId xmlns:a16="http://schemas.microsoft.com/office/drawing/2014/main" id="{250F7BC6-5CC4-E31A-6C65-C344F8D4F9B2}"/>
              </a:ext>
            </a:extLst>
          </p:cNvPr>
          <p:cNvPicPr>
            <a:picLocks noGrp="1" noChangeAspect="1"/>
          </p:cNvPicPr>
          <p:nvPr>
            <p:ph idx="1"/>
          </p:nvPr>
        </p:nvPicPr>
        <p:blipFill>
          <a:blip r:embed="rId2"/>
          <a:stretch>
            <a:fillRect/>
          </a:stretch>
        </p:blipFill>
        <p:spPr>
          <a:xfrm>
            <a:off x="777556" y="1264958"/>
            <a:ext cx="7308610" cy="3527633"/>
          </a:xfrm>
        </p:spPr>
      </p:pic>
      <p:sp>
        <p:nvSpPr>
          <p:cNvPr id="6" name="TextBox 5">
            <a:extLst>
              <a:ext uri="{FF2B5EF4-FFF2-40B4-BE49-F238E27FC236}">
                <a16:creationId xmlns:a16="http://schemas.microsoft.com/office/drawing/2014/main" id="{FF731982-DCD2-2B9B-464D-D0856F0514E7}"/>
              </a:ext>
            </a:extLst>
          </p:cNvPr>
          <p:cNvSpPr txBox="1"/>
          <p:nvPr/>
        </p:nvSpPr>
        <p:spPr>
          <a:xfrm>
            <a:off x="777555" y="4792591"/>
            <a:ext cx="10186279" cy="2031325"/>
          </a:xfrm>
          <a:prstGeom prst="rect">
            <a:avLst/>
          </a:prstGeom>
          <a:noFill/>
        </p:spPr>
        <p:txBody>
          <a:bodyPr wrap="square" rtlCol="0">
            <a:spAutoFit/>
          </a:bodyPr>
          <a:lstStyle/>
          <a:p>
            <a:r>
              <a:rPr lang="en-GB" dirty="0" err="1"/>
              <a:t>Purba</a:t>
            </a:r>
            <a:r>
              <a:rPr lang="en-GB" dirty="0"/>
              <a:t> </a:t>
            </a:r>
            <a:r>
              <a:rPr lang="en-GB" dirty="0" err="1"/>
              <a:t>Champaran</a:t>
            </a:r>
            <a:r>
              <a:rPr lang="en-GB" dirty="0"/>
              <a:t> has the most no of below primary educated people with 1.2 </a:t>
            </a:r>
            <a:r>
              <a:rPr lang="en-GB" dirty="0" err="1"/>
              <a:t>miIllion</a:t>
            </a:r>
            <a:endParaRPr lang="en-GB" dirty="0"/>
          </a:p>
          <a:p>
            <a:r>
              <a:rPr lang="en-GB" dirty="0"/>
              <a:t>North Twenty Four </a:t>
            </a:r>
            <a:r>
              <a:rPr lang="en-GB" dirty="0" err="1"/>
              <a:t>Paragans</a:t>
            </a:r>
            <a:r>
              <a:rPr lang="en-GB" dirty="0"/>
              <a:t> has the most no of people with  Primary education with 1.87 Million</a:t>
            </a:r>
          </a:p>
          <a:p>
            <a:r>
              <a:rPr lang="en-GB" dirty="0"/>
              <a:t>North Twenty Four </a:t>
            </a:r>
            <a:r>
              <a:rPr lang="en-GB" dirty="0" err="1"/>
              <a:t>Paragans</a:t>
            </a:r>
            <a:r>
              <a:rPr lang="en-GB" dirty="0"/>
              <a:t> has the most no of people with  Middle education with 2.09 Million</a:t>
            </a:r>
          </a:p>
          <a:p>
            <a:r>
              <a:rPr lang="en-GB" dirty="0"/>
              <a:t>Bangalore has the highest secondary education with 2 </a:t>
            </a:r>
            <a:r>
              <a:rPr lang="en-GB" dirty="0" err="1"/>
              <a:t>miIllion</a:t>
            </a:r>
            <a:endParaRPr lang="en-GB" dirty="0"/>
          </a:p>
          <a:p>
            <a:r>
              <a:rPr lang="en-GB" dirty="0"/>
              <a:t>Bangalore has the highest Higher education with 1.2 </a:t>
            </a:r>
            <a:r>
              <a:rPr lang="en-GB" dirty="0" err="1"/>
              <a:t>miIllion</a:t>
            </a:r>
            <a:endParaRPr lang="en-GB" dirty="0"/>
          </a:p>
          <a:p>
            <a:r>
              <a:rPr lang="en-GB" dirty="0"/>
              <a:t>Bangalore has the highest Graduates with 1.7 </a:t>
            </a:r>
            <a:r>
              <a:rPr lang="en-GB" dirty="0" err="1"/>
              <a:t>miIllion</a:t>
            </a:r>
            <a:endParaRPr lang="en-GB" dirty="0"/>
          </a:p>
          <a:p>
            <a:r>
              <a:rPr lang="en-IN" dirty="0"/>
              <a:t>Bangalore has the highest other education with 1.9 lakhs</a:t>
            </a:r>
          </a:p>
        </p:txBody>
      </p:sp>
    </p:spTree>
    <p:extLst>
      <p:ext uri="{BB962C8B-B14F-4D97-AF65-F5344CB8AC3E}">
        <p14:creationId xmlns:p14="http://schemas.microsoft.com/office/powerpoint/2010/main" val="3504045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159F8-59C8-4082-DCC2-2C620C282BDF}"/>
              </a:ext>
            </a:extLst>
          </p:cNvPr>
          <p:cNvSpPr>
            <a:spLocks noGrp="1"/>
          </p:cNvSpPr>
          <p:nvPr>
            <p:ph type="title"/>
          </p:nvPr>
        </p:nvSpPr>
        <p:spPr>
          <a:xfrm>
            <a:off x="677334" y="609600"/>
            <a:ext cx="8596668" cy="806824"/>
          </a:xfrm>
        </p:spPr>
        <p:txBody>
          <a:bodyPr/>
          <a:lstStyle/>
          <a:p>
            <a:r>
              <a:rPr lang="en-GB" sz="1800" b="0" i="0" u="none" strike="noStrike" baseline="0" dirty="0">
                <a:solidFill>
                  <a:srgbClr val="0D0D0D"/>
                </a:solidFill>
                <a:latin typeface="ArialMT"/>
              </a:rPr>
              <a:t>How many households have access to various modes of transportation</a:t>
            </a:r>
            <a:br>
              <a:rPr lang="en-GB" sz="1800" b="0" i="0" u="none" strike="noStrike" baseline="0" dirty="0">
                <a:solidFill>
                  <a:srgbClr val="0D0D0D"/>
                </a:solidFill>
                <a:latin typeface="ArialMT"/>
              </a:rPr>
            </a:br>
            <a:r>
              <a:rPr lang="en-GB" sz="1800" b="0" i="0" u="none" strike="noStrike" baseline="0" dirty="0">
                <a:solidFill>
                  <a:srgbClr val="0D0D0D"/>
                </a:solidFill>
                <a:latin typeface="ArialMT"/>
              </a:rPr>
              <a:t>(bicycle, car, etc.) in each district?</a:t>
            </a:r>
            <a:endParaRPr lang="en-IN" dirty="0"/>
          </a:p>
        </p:txBody>
      </p:sp>
      <p:pic>
        <p:nvPicPr>
          <p:cNvPr id="5" name="Content Placeholder 4">
            <a:extLst>
              <a:ext uri="{FF2B5EF4-FFF2-40B4-BE49-F238E27FC236}">
                <a16:creationId xmlns:a16="http://schemas.microsoft.com/office/drawing/2014/main" id="{2F7811A3-F945-7E95-C573-95D10AAC4452}"/>
              </a:ext>
            </a:extLst>
          </p:cNvPr>
          <p:cNvPicPr>
            <a:picLocks noGrp="1" noChangeAspect="1"/>
          </p:cNvPicPr>
          <p:nvPr>
            <p:ph idx="1"/>
          </p:nvPr>
        </p:nvPicPr>
        <p:blipFill>
          <a:blip r:embed="rId2"/>
          <a:stretch>
            <a:fillRect/>
          </a:stretch>
        </p:blipFill>
        <p:spPr>
          <a:xfrm>
            <a:off x="776513" y="1282887"/>
            <a:ext cx="8040423" cy="3879850"/>
          </a:xfrm>
        </p:spPr>
      </p:pic>
      <p:sp>
        <p:nvSpPr>
          <p:cNvPr id="7" name="TextBox 6">
            <a:extLst>
              <a:ext uri="{FF2B5EF4-FFF2-40B4-BE49-F238E27FC236}">
                <a16:creationId xmlns:a16="http://schemas.microsoft.com/office/drawing/2014/main" id="{C1E84749-93EB-CF7B-C0FC-00035116B8A1}"/>
              </a:ext>
            </a:extLst>
          </p:cNvPr>
          <p:cNvSpPr txBox="1"/>
          <p:nvPr/>
        </p:nvSpPr>
        <p:spPr>
          <a:xfrm>
            <a:off x="776512" y="5251947"/>
            <a:ext cx="10264527" cy="923330"/>
          </a:xfrm>
          <a:prstGeom prst="rect">
            <a:avLst/>
          </a:prstGeom>
          <a:noFill/>
        </p:spPr>
        <p:txBody>
          <a:bodyPr wrap="square" rtlCol="0">
            <a:spAutoFit/>
          </a:bodyPr>
          <a:lstStyle/>
          <a:p>
            <a:r>
              <a:rPr lang="en-GB" dirty="0"/>
              <a:t>North Twenty Four </a:t>
            </a:r>
            <a:r>
              <a:rPr lang="en-GB" dirty="0" err="1"/>
              <a:t>Paragans</a:t>
            </a:r>
            <a:r>
              <a:rPr lang="en-GB" dirty="0"/>
              <a:t> has the highest no of people using Bicycle with 1.27 Million</a:t>
            </a:r>
          </a:p>
          <a:p>
            <a:r>
              <a:rPr lang="en-GB" dirty="0"/>
              <a:t>Pune has more No. of Cars/Van/Jeep with 2.73Lakhs people using</a:t>
            </a:r>
          </a:p>
          <a:p>
            <a:r>
              <a:rPr lang="en-GB" dirty="0"/>
              <a:t>Bangalore has more two wheelers with 1.2 Million</a:t>
            </a:r>
          </a:p>
        </p:txBody>
      </p:sp>
    </p:spTree>
    <p:extLst>
      <p:ext uri="{BB962C8B-B14F-4D97-AF65-F5344CB8AC3E}">
        <p14:creationId xmlns:p14="http://schemas.microsoft.com/office/powerpoint/2010/main" val="2719078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FA0A6-F77F-DA1A-F1E0-E5D9246A0B45}"/>
              </a:ext>
            </a:extLst>
          </p:cNvPr>
          <p:cNvSpPr>
            <a:spLocks noGrp="1"/>
          </p:cNvSpPr>
          <p:nvPr>
            <p:ph type="title"/>
          </p:nvPr>
        </p:nvSpPr>
        <p:spPr>
          <a:xfrm>
            <a:off x="677334" y="609600"/>
            <a:ext cx="8596668" cy="714233"/>
          </a:xfrm>
        </p:spPr>
        <p:txBody>
          <a:bodyPr/>
          <a:lstStyle/>
          <a:p>
            <a:r>
              <a:rPr lang="en-GB" sz="1800" b="0" i="0" u="none" strike="noStrike" baseline="0" dirty="0">
                <a:solidFill>
                  <a:srgbClr val="0D0D0D"/>
                </a:solidFill>
                <a:latin typeface="ArialMT"/>
              </a:rPr>
              <a:t>What is the condition of occupied census houses (dilapidated, with separate</a:t>
            </a:r>
            <a:br>
              <a:rPr lang="en-GB" sz="1800" b="0" i="0" u="none" strike="noStrike" baseline="0" dirty="0">
                <a:solidFill>
                  <a:srgbClr val="0D0D0D"/>
                </a:solidFill>
                <a:latin typeface="ArialMT"/>
              </a:rPr>
            </a:br>
            <a:r>
              <a:rPr lang="en-GB" sz="1800" b="0" i="0" u="none" strike="noStrike" baseline="0" dirty="0">
                <a:solidFill>
                  <a:srgbClr val="0D0D0D"/>
                </a:solidFill>
                <a:latin typeface="ArialMT"/>
              </a:rPr>
              <a:t>kitchen, with bathing facility, with latrine facility, etc.) in each district?</a:t>
            </a:r>
            <a:endParaRPr lang="en-IN" dirty="0"/>
          </a:p>
        </p:txBody>
      </p:sp>
      <p:pic>
        <p:nvPicPr>
          <p:cNvPr id="5" name="Content Placeholder 4">
            <a:extLst>
              <a:ext uri="{FF2B5EF4-FFF2-40B4-BE49-F238E27FC236}">
                <a16:creationId xmlns:a16="http://schemas.microsoft.com/office/drawing/2014/main" id="{C7994228-4D0D-7F28-A3AA-8396C6ADD7E2}"/>
              </a:ext>
            </a:extLst>
          </p:cNvPr>
          <p:cNvPicPr>
            <a:picLocks noGrp="1" noChangeAspect="1"/>
          </p:cNvPicPr>
          <p:nvPr>
            <p:ph idx="1"/>
          </p:nvPr>
        </p:nvPicPr>
        <p:blipFill>
          <a:blip r:embed="rId2"/>
          <a:stretch>
            <a:fillRect/>
          </a:stretch>
        </p:blipFill>
        <p:spPr>
          <a:xfrm>
            <a:off x="677335" y="1323834"/>
            <a:ext cx="7552266" cy="3643880"/>
          </a:xfrm>
        </p:spPr>
      </p:pic>
      <p:sp>
        <p:nvSpPr>
          <p:cNvPr id="6" name="TextBox 5">
            <a:extLst>
              <a:ext uri="{FF2B5EF4-FFF2-40B4-BE49-F238E27FC236}">
                <a16:creationId xmlns:a16="http://schemas.microsoft.com/office/drawing/2014/main" id="{4F8B8BFB-4DCB-8343-FD0F-F0416CD33965}"/>
              </a:ext>
            </a:extLst>
          </p:cNvPr>
          <p:cNvSpPr txBox="1"/>
          <p:nvPr/>
        </p:nvSpPr>
        <p:spPr>
          <a:xfrm>
            <a:off x="513561" y="5072501"/>
            <a:ext cx="11209866" cy="1477328"/>
          </a:xfrm>
          <a:prstGeom prst="rect">
            <a:avLst/>
          </a:prstGeom>
          <a:noFill/>
        </p:spPr>
        <p:txBody>
          <a:bodyPr wrap="square" rtlCol="0">
            <a:spAutoFit/>
          </a:bodyPr>
          <a:lstStyle/>
          <a:p>
            <a:r>
              <a:rPr lang="en-GB" dirty="0"/>
              <a:t>North Twenty Four </a:t>
            </a:r>
            <a:r>
              <a:rPr lang="en-GB" dirty="0" err="1"/>
              <a:t>Paragans</a:t>
            </a:r>
            <a:r>
              <a:rPr lang="en-GB" dirty="0"/>
              <a:t> has the highest no of people using Dilapidated Houses with 2.6 Lakhs</a:t>
            </a:r>
          </a:p>
          <a:p>
            <a:r>
              <a:rPr lang="en-GB" dirty="0"/>
              <a:t>Thane has majority of the houses with Separate Kitchen with 2.37 Million</a:t>
            </a:r>
          </a:p>
          <a:p>
            <a:r>
              <a:rPr lang="en-GB" dirty="0"/>
              <a:t>Bangalore has the highest houses with Bathing facility with 2.33 Million</a:t>
            </a:r>
          </a:p>
          <a:p>
            <a:r>
              <a:rPr lang="en-GB" dirty="0"/>
              <a:t>Bangalore has the highest houses with </a:t>
            </a:r>
            <a:r>
              <a:rPr lang="en-GB" dirty="0" err="1"/>
              <a:t>Laterine</a:t>
            </a:r>
            <a:r>
              <a:rPr lang="en-GB" dirty="0"/>
              <a:t> facility with 2.2 Million</a:t>
            </a:r>
          </a:p>
          <a:p>
            <a:r>
              <a:rPr lang="en-GB" dirty="0"/>
              <a:t>Murshidabad has the highest houses with </a:t>
            </a:r>
            <a:r>
              <a:rPr lang="en-GB" dirty="0" err="1"/>
              <a:t>laterne</a:t>
            </a:r>
            <a:r>
              <a:rPr lang="en-GB" dirty="0"/>
              <a:t> facility outside or with other alternate sources 9.8 Lakhs</a:t>
            </a:r>
          </a:p>
        </p:txBody>
      </p:sp>
    </p:spTree>
    <p:extLst>
      <p:ext uri="{BB962C8B-B14F-4D97-AF65-F5344CB8AC3E}">
        <p14:creationId xmlns:p14="http://schemas.microsoft.com/office/powerpoint/2010/main" val="1117512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3182-B062-1204-F259-34CFB96DF9D2}"/>
              </a:ext>
            </a:extLst>
          </p:cNvPr>
          <p:cNvSpPr>
            <a:spLocks noGrp="1"/>
          </p:cNvSpPr>
          <p:nvPr>
            <p:ph type="title"/>
          </p:nvPr>
        </p:nvSpPr>
        <p:spPr>
          <a:xfrm>
            <a:off x="677334" y="609600"/>
            <a:ext cx="8596668" cy="796119"/>
          </a:xfrm>
        </p:spPr>
        <p:txBody>
          <a:bodyPr/>
          <a:lstStyle/>
          <a:p>
            <a:r>
              <a:rPr lang="en-GB" sz="1800" b="0" i="0" u="none" strike="noStrike" baseline="0" dirty="0">
                <a:solidFill>
                  <a:srgbClr val="0D0D0D"/>
                </a:solidFill>
                <a:latin typeface="ArialMT"/>
              </a:rPr>
              <a:t>How is the household size distributed (1 person, 2 persons, 3-5 persons, etc.)</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in each district?</a:t>
            </a:r>
            <a:endParaRPr lang="en-IN" dirty="0"/>
          </a:p>
        </p:txBody>
      </p:sp>
      <p:pic>
        <p:nvPicPr>
          <p:cNvPr id="5" name="Content Placeholder 4">
            <a:extLst>
              <a:ext uri="{FF2B5EF4-FFF2-40B4-BE49-F238E27FC236}">
                <a16:creationId xmlns:a16="http://schemas.microsoft.com/office/drawing/2014/main" id="{D0F48EEC-837E-4F5D-97CD-41A08CE2CF95}"/>
              </a:ext>
            </a:extLst>
          </p:cNvPr>
          <p:cNvPicPr>
            <a:picLocks noGrp="1" noChangeAspect="1"/>
          </p:cNvPicPr>
          <p:nvPr>
            <p:ph idx="1"/>
          </p:nvPr>
        </p:nvPicPr>
        <p:blipFill>
          <a:blip r:embed="rId2"/>
          <a:stretch>
            <a:fillRect/>
          </a:stretch>
        </p:blipFill>
        <p:spPr>
          <a:xfrm>
            <a:off x="747343" y="1279432"/>
            <a:ext cx="7078845" cy="3430603"/>
          </a:xfrm>
        </p:spPr>
      </p:pic>
      <p:sp>
        <p:nvSpPr>
          <p:cNvPr id="6" name="TextBox 5">
            <a:extLst>
              <a:ext uri="{FF2B5EF4-FFF2-40B4-BE49-F238E27FC236}">
                <a16:creationId xmlns:a16="http://schemas.microsoft.com/office/drawing/2014/main" id="{C0AA78AE-7425-FA8E-88A6-EA81626C8505}"/>
              </a:ext>
            </a:extLst>
          </p:cNvPr>
          <p:cNvSpPr txBox="1"/>
          <p:nvPr/>
        </p:nvSpPr>
        <p:spPr>
          <a:xfrm>
            <a:off x="677334" y="4710035"/>
            <a:ext cx="10264527" cy="2308324"/>
          </a:xfrm>
          <a:prstGeom prst="rect">
            <a:avLst/>
          </a:prstGeom>
          <a:noFill/>
        </p:spPr>
        <p:txBody>
          <a:bodyPr wrap="square" rtlCol="0">
            <a:spAutoFit/>
          </a:bodyPr>
          <a:lstStyle/>
          <a:p>
            <a:r>
              <a:rPr lang="en-GB" dirty="0"/>
              <a:t>Bangalore is having the largest no. of 1 household -1.06 Lakhs</a:t>
            </a:r>
          </a:p>
          <a:p>
            <a:r>
              <a:rPr lang="en-GB" dirty="0"/>
              <a:t>Bangalore is having the largest no. of 2 households -3 Lakhs</a:t>
            </a:r>
          </a:p>
          <a:p>
            <a:r>
              <a:rPr lang="en-GB" dirty="0" err="1"/>
              <a:t>NorthTwentyFourParagons</a:t>
            </a:r>
            <a:r>
              <a:rPr lang="en-GB" dirty="0"/>
              <a:t> is having the largest no. of 3 households – 5.4 Lakhs</a:t>
            </a:r>
          </a:p>
          <a:p>
            <a:r>
              <a:rPr lang="en-GB" dirty="0"/>
              <a:t>Bangalore is having the largest no. of 4 households -7.01 Lakhs</a:t>
            </a:r>
          </a:p>
          <a:p>
            <a:r>
              <a:rPr lang="en-GB" dirty="0"/>
              <a:t>Thane is having the largest no. of 5 households –4.01 Lakhs</a:t>
            </a:r>
          </a:p>
          <a:p>
            <a:r>
              <a:rPr lang="en-GB" dirty="0" err="1"/>
              <a:t>MumbaiSuburban</a:t>
            </a:r>
            <a:r>
              <a:rPr lang="en-GB" dirty="0"/>
              <a:t> is having the largest no. of 6-8 households – 3.8 Lakhs</a:t>
            </a:r>
          </a:p>
          <a:p>
            <a:r>
              <a:rPr lang="en-GB" dirty="0" err="1"/>
              <a:t>Azamgargh</a:t>
            </a:r>
            <a:r>
              <a:rPr lang="en-GB" dirty="0"/>
              <a:t> is having the largest no. of households &gt; 9  – 1.8 Lakhs</a:t>
            </a:r>
          </a:p>
          <a:p>
            <a:endParaRPr lang="en-GB" dirty="0"/>
          </a:p>
        </p:txBody>
      </p:sp>
    </p:spTree>
    <p:extLst>
      <p:ext uri="{BB962C8B-B14F-4D97-AF65-F5344CB8AC3E}">
        <p14:creationId xmlns:p14="http://schemas.microsoft.com/office/powerpoint/2010/main" val="1384495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8E4BD-479A-B1F4-AFD2-B82FE927D131}"/>
              </a:ext>
            </a:extLst>
          </p:cNvPr>
          <p:cNvSpPr>
            <a:spLocks noGrp="1"/>
          </p:cNvSpPr>
          <p:nvPr>
            <p:ph type="title"/>
          </p:nvPr>
        </p:nvSpPr>
        <p:spPr>
          <a:xfrm>
            <a:off x="677334" y="609600"/>
            <a:ext cx="8596668" cy="523164"/>
          </a:xfrm>
        </p:spPr>
        <p:txBody>
          <a:bodyPr/>
          <a:lstStyle/>
          <a:p>
            <a:r>
              <a:rPr lang="en-GB" sz="1800" b="0" i="0" u="none" strike="noStrike" baseline="0" dirty="0">
                <a:solidFill>
                  <a:srgbClr val="0D0D0D"/>
                </a:solidFill>
                <a:latin typeface="ArialMT"/>
              </a:rPr>
              <a:t>What is the total number of households in each state?</a:t>
            </a:r>
            <a:endParaRPr lang="en-IN" dirty="0"/>
          </a:p>
        </p:txBody>
      </p:sp>
      <p:pic>
        <p:nvPicPr>
          <p:cNvPr id="5" name="Content Placeholder 4">
            <a:extLst>
              <a:ext uri="{FF2B5EF4-FFF2-40B4-BE49-F238E27FC236}">
                <a16:creationId xmlns:a16="http://schemas.microsoft.com/office/drawing/2014/main" id="{16E8CB73-F50B-63CF-EB7D-7300037ECD34}"/>
              </a:ext>
            </a:extLst>
          </p:cNvPr>
          <p:cNvPicPr>
            <a:picLocks noGrp="1" noChangeAspect="1"/>
          </p:cNvPicPr>
          <p:nvPr>
            <p:ph idx="1"/>
          </p:nvPr>
        </p:nvPicPr>
        <p:blipFill>
          <a:blip r:embed="rId2"/>
          <a:stretch>
            <a:fillRect/>
          </a:stretch>
        </p:blipFill>
        <p:spPr>
          <a:xfrm>
            <a:off x="893203" y="1133475"/>
            <a:ext cx="8165631" cy="3879850"/>
          </a:xfrm>
        </p:spPr>
      </p:pic>
      <p:sp>
        <p:nvSpPr>
          <p:cNvPr id="6" name="TextBox 5">
            <a:extLst>
              <a:ext uri="{FF2B5EF4-FFF2-40B4-BE49-F238E27FC236}">
                <a16:creationId xmlns:a16="http://schemas.microsoft.com/office/drawing/2014/main" id="{38DE2253-2795-1874-A682-897DFA913364}"/>
              </a:ext>
            </a:extLst>
          </p:cNvPr>
          <p:cNvSpPr txBox="1"/>
          <p:nvPr/>
        </p:nvSpPr>
        <p:spPr>
          <a:xfrm>
            <a:off x="776512" y="5115469"/>
            <a:ext cx="10264527" cy="646331"/>
          </a:xfrm>
          <a:prstGeom prst="rect">
            <a:avLst/>
          </a:prstGeom>
          <a:noFill/>
        </p:spPr>
        <p:txBody>
          <a:bodyPr wrap="square" rtlCol="0">
            <a:spAutoFit/>
          </a:bodyPr>
          <a:lstStyle/>
          <a:p>
            <a:r>
              <a:rPr lang="en-GB" dirty="0"/>
              <a:t>Uttar Pradesh has around 45.1 Million Households</a:t>
            </a:r>
          </a:p>
          <a:p>
            <a:r>
              <a:rPr lang="en-GB" dirty="0" err="1"/>
              <a:t>Lakshwadeep</a:t>
            </a:r>
            <a:r>
              <a:rPr lang="en-GB" dirty="0"/>
              <a:t> has around 21.24 Thousand Households</a:t>
            </a:r>
          </a:p>
        </p:txBody>
      </p:sp>
    </p:spTree>
    <p:extLst>
      <p:ext uri="{BB962C8B-B14F-4D97-AF65-F5344CB8AC3E}">
        <p14:creationId xmlns:p14="http://schemas.microsoft.com/office/powerpoint/2010/main" val="535194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1D390-3C85-C880-6399-B255EB71E7E4}"/>
              </a:ext>
            </a:extLst>
          </p:cNvPr>
          <p:cNvSpPr>
            <a:spLocks noGrp="1"/>
          </p:cNvSpPr>
          <p:nvPr>
            <p:ph type="title"/>
          </p:nvPr>
        </p:nvSpPr>
        <p:spPr>
          <a:xfrm>
            <a:off x="677334" y="609600"/>
            <a:ext cx="8596668" cy="768824"/>
          </a:xfrm>
        </p:spPr>
        <p:txBody>
          <a:bodyPr/>
          <a:lstStyle/>
          <a:p>
            <a:r>
              <a:rPr lang="en-GB" sz="1800" b="0" i="0" u="none" strike="noStrike" baseline="0" dirty="0">
                <a:solidFill>
                  <a:srgbClr val="0D0D0D"/>
                </a:solidFill>
                <a:latin typeface="ArialMT"/>
              </a:rPr>
              <a:t>How many households have a latrine facility within the premises in each</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state?</a:t>
            </a:r>
            <a:endParaRPr lang="en-IN" dirty="0"/>
          </a:p>
        </p:txBody>
      </p:sp>
      <p:pic>
        <p:nvPicPr>
          <p:cNvPr id="5" name="Content Placeholder 4">
            <a:extLst>
              <a:ext uri="{FF2B5EF4-FFF2-40B4-BE49-F238E27FC236}">
                <a16:creationId xmlns:a16="http://schemas.microsoft.com/office/drawing/2014/main" id="{D1BDB2C5-BFDC-9EDA-D188-928EAE40A7F8}"/>
              </a:ext>
            </a:extLst>
          </p:cNvPr>
          <p:cNvPicPr>
            <a:picLocks noGrp="1" noChangeAspect="1"/>
          </p:cNvPicPr>
          <p:nvPr>
            <p:ph idx="1"/>
          </p:nvPr>
        </p:nvPicPr>
        <p:blipFill>
          <a:blip r:embed="rId2"/>
          <a:stretch>
            <a:fillRect/>
          </a:stretch>
        </p:blipFill>
        <p:spPr>
          <a:xfrm>
            <a:off x="764872" y="1377950"/>
            <a:ext cx="8230206" cy="3881438"/>
          </a:xfrm>
        </p:spPr>
      </p:pic>
      <p:sp>
        <p:nvSpPr>
          <p:cNvPr id="6" name="TextBox 5">
            <a:extLst>
              <a:ext uri="{FF2B5EF4-FFF2-40B4-BE49-F238E27FC236}">
                <a16:creationId xmlns:a16="http://schemas.microsoft.com/office/drawing/2014/main" id="{E775295A-6556-C3A3-717A-FEFBE49BB590}"/>
              </a:ext>
            </a:extLst>
          </p:cNvPr>
          <p:cNvSpPr txBox="1"/>
          <p:nvPr/>
        </p:nvSpPr>
        <p:spPr>
          <a:xfrm>
            <a:off x="764872" y="5381407"/>
            <a:ext cx="10264527" cy="646331"/>
          </a:xfrm>
          <a:prstGeom prst="rect">
            <a:avLst/>
          </a:prstGeom>
          <a:noFill/>
        </p:spPr>
        <p:txBody>
          <a:bodyPr wrap="square" rtlCol="0">
            <a:spAutoFit/>
          </a:bodyPr>
          <a:lstStyle/>
          <a:p>
            <a:r>
              <a:rPr lang="en-GB" dirty="0"/>
              <a:t>Maharashtra has around 12.5 Million Households</a:t>
            </a:r>
          </a:p>
          <a:p>
            <a:r>
              <a:rPr lang="en-GB" dirty="0" err="1"/>
              <a:t>Lakshwadeep</a:t>
            </a:r>
            <a:r>
              <a:rPr lang="en-GB" dirty="0"/>
              <a:t> has around 10.46 Thousand Households</a:t>
            </a:r>
          </a:p>
        </p:txBody>
      </p:sp>
    </p:spTree>
    <p:extLst>
      <p:ext uri="{BB962C8B-B14F-4D97-AF65-F5344CB8AC3E}">
        <p14:creationId xmlns:p14="http://schemas.microsoft.com/office/powerpoint/2010/main" val="307313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E72D-19C9-CD55-18CF-EE3396A1D707}"/>
              </a:ext>
            </a:extLst>
          </p:cNvPr>
          <p:cNvSpPr>
            <a:spLocks noGrp="1"/>
          </p:cNvSpPr>
          <p:nvPr>
            <p:ph type="title"/>
          </p:nvPr>
        </p:nvSpPr>
        <p:spPr>
          <a:xfrm>
            <a:off x="677334" y="609600"/>
            <a:ext cx="8596668" cy="454925"/>
          </a:xfrm>
        </p:spPr>
        <p:txBody>
          <a:bodyPr/>
          <a:lstStyle/>
          <a:p>
            <a:r>
              <a:rPr lang="en-GB" sz="1800" b="0" i="0" u="none" strike="noStrike" baseline="0" dirty="0">
                <a:solidFill>
                  <a:srgbClr val="0D0D0D"/>
                </a:solidFill>
                <a:latin typeface="ArialMT"/>
              </a:rPr>
              <a:t>What is the average household size in each state?</a:t>
            </a:r>
            <a:endParaRPr lang="en-IN" dirty="0"/>
          </a:p>
        </p:txBody>
      </p:sp>
      <p:pic>
        <p:nvPicPr>
          <p:cNvPr id="5" name="Content Placeholder 4">
            <a:extLst>
              <a:ext uri="{FF2B5EF4-FFF2-40B4-BE49-F238E27FC236}">
                <a16:creationId xmlns:a16="http://schemas.microsoft.com/office/drawing/2014/main" id="{A239A395-B795-350A-61B2-E50F72869128}"/>
              </a:ext>
            </a:extLst>
          </p:cNvPr>
          <p:cNvPicPr>
            <a:picLocks noGrp="1" noChangeAspect="1"/>
          </p:cNvPicPr>
          <p:nvPr>
            <p:ph idx="1"/>
          </p:nvPr>
        </p:nvPicPr>
        <p:blipFill>
          <a:blip r:embed="rId2"/>
          <a:stretch>
            <a:fillRect/>
          </a:stretch>
        </p:blipFill>
        <p:spPr>
          <a:xfrm>
            <a:off x="741318" y="1064525"/>
            <a:ext cx="7551035" cy="3652446"/>
          </a:xfrm>
        </p:spPr>
      </p:pic>
      <p:sp>
        <p:nvSpPr>
          <p:cNvPr id="6" name="TextBox 5">
            <a:extLst>
              <a:ext uri="{FF2B5EF4-FFF2-40B4-BE49-F238E27FC236}">
                <a16:creationId xmlns:a16="http://schemas.microsoft.com/office/drawing/2014/main" id="{54DF1068-E377-9E0C-F8DF-62D6ED29A0B1}"/>
              </a:ext>
            </a:extLst>
          </p:cNvPr>
          <p:cNvSpPr txBox="1"/>
          <p:nvPr/>
        </p:nvSpPr>
        <p:spPr>
          <a:xfrm>
            <a:off x="741318" y="4825595"/>
            <a:ext cx="10264527" cy="2308324"/>
          </a:xfrm>
          <a:prstGeom prst="rect">
            <a:avLst/>
          </a:prstGeom>
          <a:noFill/>
        </p:spPr>
        <p:txBody>
          <a:bodyPr wrap="square" rtlCol="0">
            <a:spAutoFit/>
          </a:bodyPr>
          <a:lstStyle/>
          <a:p>
            <a:r>
              <a:rPr lang="en-GB" dirty="0" err="1"/>
              <a:t>AndhraPradesh</a:t>
            </a:r>
            <a:r>
              <a:rPr lang="en-GB" dirty="0"/>
              <a:t> is having the largest no. of 1 household -55 Thousand</a:t>
            </a:r>
          </a:p>
          <a:p>
            <a:r>
              <a:rPr lang="en-GB" dirty="0" err="1"/>
              <a:t>AndhraPradesh</a:t>
            </a:r>
            <a:r>
              <a:rPr lang="en-GB" dirty="0"/>
              <a:t> is having the largest no. of 2 households -1.1 Lakhs</a:t>
            </a:r>
          </a:p>
          <a:p>
            <a:r>
              <a:rPr lang="en-GB" dirty="0" err="1"/>
              <a:t>WestBengal</a:t>
            </a:r>
            <a:r>
              <a:rPr lang="en-GB" dirty="0"/>
              <a:t> is having the largest no. of 3 households – 2.01 Lakhs</a:t>
            </a:r>
          </a:p>
          <a:p>
            <a:r>
              <a:rPr lang="en-GB" dirty="0" err="1"/>
              <a:t>AndhraPradesh</a:t>
            </a:r>
            <a:r>
              <a:rPr lang="en-GB" dirty="0"/>
              <a:t> is having the largest no. of 4 households -3.07 Lakhs</a:t>
            </a:r>
          </a:p>
          <a:p>
            <a:r>
              <a:rPr lang="en-GB" dirty="0" err="1"/>
              <a:t>WestBengal</a:t>
            </a:r>
            <a:r>
              <a:rPr lang="en-GB" dirty="0"/>
              <a:t> is having the largest no. of 5 households –1.9 Lakhs</a:t>
            </a:r>
          </a:p>
          <a:p>
            <a:r>
              <a:rPr lang="en-GB" dirty="0" err="1"/>
              <a:t>WestBengal</a:t>
            </a:r>
            <a:r>
              <a:rPr lang="en-GB" dirty="0"/>
              <a:t> is having the largest no. of 6-8 households – 1.9 Lakhs</a:t>
            </a:r>
          </a:p>
          <a:p>
            <a:r>
              <a:rPr lang="en-GB" dirty="0" err="1"/>
              <a:t>UttarPradesh</a:t>
            </a:r>
            <a:r>
              <a:rPr lang="en-GB" dirty="0"/>
              <a:t> is having the largest no. of households &gt;9  – 70 Thousand</a:t>
            </a:r>
          </a:p>
          <a:p>
            <a:endParaRPr lang="en-GB" dirty="0"/>
          </a:p>
        </p:txBody>
      </p:sp>
    </p:spTree>
    <p:extLst>
      <p:ext uri="{BB962C8B-B14F-4D97-AF65-F5344CB8AC3E}">
        <p14:creationId xmlns:p14="http://schemas.microsoft.com/office/powerpoint/2010/main" val="38177801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C1D52-6F49-A455-F578-49D4B055CED7}"/>
              </a:ext>
            </a:extLst>
          </p:cNvPr>
          <p:cNvSpPr>
            <a:spLocks noGrp="1"/>
          </p:cNvSpPr>
          <p:nvPr>
            <p:ph type="title"/>
          </p:nvPr>
        </p:nvSpPr>
        <p:spPr>
          <a:xfrm>
            <a:off x="677334" y="609600"/>
            <a:ext cx="8596668" cy="427630"/>
          </a:xfrm>
        </p:spPr>
        <p:txBody>
          <a:bodyPr/>
          <a:lstStyle/>
          <a:p>
            <a:r>
              <a:rPr lang="en-GB" sz="1800" b="0" i="0" u="none" strike="noStrike" baseline="0" dirty="0">
                <a:solidFill>
                  <a:srgbClr val="0D0D0D"/>
                </a:solidFill>
                <a:latin typeface="ArialMT"/>
              </a:rPr>
              <a:t>How many households are owned versus rented in each state?</a:t>
            </a:r>
            <a:endParaRPr lang="en-IN" dirty="0"/>
          </a:p>
        </p:txBody>
      </p:sp>
      <p:pic>
        <p:nvPicPr>
          <p:cNvPr id="5" name="Content Placeholder 4">
            <a:extLst>
              <a:ext uri="{FF2B5EF4-FFF2-40B4-BE49-F238E27FC236}">
                <a16:creationId xmlns:a16="http://schemas.microsoft.com/office/drawing/2014/main" id="{1D75EC1C-FF6C-65EF-33A2-D34B579189F4}"/>
              </a:ext>
            </a:extLst>
          </p:cNvPr>
          <p:cNvPicPr>
            <a:picLocks noGrp="1" noChangeAspect="1"/>
          </p:cNvPicPr>
          <p:nvPr>
            <p:ph idx="1"/>
          </p:nvPr>
        </p:nvPicPr>
        <p:blipFill>
          <a:blip r:embed="rId2"/>
          <a:stretch>
            <a:fillRect/>
          </a:stretch>
        </p:blipFill>
        <p:spPr>
          <a:xfrm>
            <a:off x="677863" y="1259749"/>
            <a:ext cx="8596312" cy="3662227"/>
          </a:xfrm>
        </p:spPr>
      </p:pic>
      <p:sp>
        <p:nvSpPr>
          <p:cNvPr id="6" name="TextBox 5">
            <a:extLst>
              <a:ext uri="{FF2B5EF4-FFF2-40B4-BE49-F238E27FC236}">
                <a16:creationId xmlns:a16="http://schemas.microsoft.com/office/drawing/2014/main" id="{FE4AAA61-2928-421A-7498-E2F8017664BF}"/>
              </a:ext>
            </a:extLst>
          </p:cNvPr>
          <p:cNvSpPr txBox="1"/>
          <p:nvPr/>
        </p:nvSpPr>
        <p:spPr>
          <a:xfrm>
            <a:off x="677334" y="5144495"/>
            <a:ext cx="10264527" cy="369332"/>
          </a:xfrm>
          <a:prstGeom prst="rect">
            <a:avLst/>
          </a:prstGeom>
          <a:noFill/>
        </p:spPr>
        <p:txBody>
          <a:bodyPr wrap="square" rtlCol="0">
            <a:spAutoFit/>
          </a:bodyPr>
          <a:lstStyle/>
          <a:p>
            <a:r>
              <a:rPr lang="en-GB" dirty="0"/>
              <a:t>All the states have more no of Owned houses than the Rented</a:t>
            </a:r>
          </a:p>
        </p:txBody>
      </p:sp>
    </p:spTree>
    <p:extLst>
      <p:ext uri="{BB962C8B-B14F-4D97-AF65-F5344CB8AC3E}">
        <p14:creationId xmlns:p14="http://schemas.microsoft.com/office/powerpoint/2010/main" val="3891396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5D137-32C2-902C-F33E-6683568BFD5D}"/>
              </a:ext>
            </a:extLst>
          </p:cNvPr>
          <p:cNvSpPr>
            <a:spLocks noGrp="1"/>
          </p:cNvSpPr>
          <p:nvPr>
            <p:ph type="title"/>
          </p:nvPr>
        </p:nvSpPr>
        <p:spPr>
          <a:xfrm>
            <a:off x="677334" y="609600"/>
            <a:ext cx="8596668" cy="753035"/>
          </a:xfrm>
        </p:spPr>
        <p:txBody>
          <a:bodyPr/>
          <a:lstStyle/>
          <a:p>
            <a:r>
              <a:rPr lang="en-GB" sz="1800" b="0" i="0" u="none" strike="noStrike" baseline="0" dirty="0">
                <a:solidFill>
                  <a:srgbClr val="0D0D0D"/>
                </a:solidFill>
                <a:latin typeface="ArialMT"/>
              </a:rPr>
              <a:t>What is the distribution of different types of latrine facilities (pit latrine, flush</a:t>
            </a:r>
            <a:br>
              <a:rPr lang="en-GB" sz="1800" b="0" i="0" u="none" strike="noStrike" baseline="0" dirty="0">
                <a:solidFill>
                  <a:srgbClr val="0D0D0D"/>
                </a:solidFill>
                <a:latin typeface="ArialMT"/>
              </a:rPr>
            </a:br>
            <a:r>
              <a:rPr lang="en-GB" sz="1800" b="0" i="0" u="none" strike="noStrike" baseline="0" dirty="0">
                <a:solidFill>
                  <a:srgbClr val="0D0D0D"/>
                </a:solidFill>
                <a:latin typeface="ArialMT"/>
              </a:rPr>
              <a:t>latrine, etc.) in each state?</a:t>
            </a:r>
            <a:endParaRPr lang="en-IN" dirty="0"/>
          </a:p>
        </p:txBody>
      </p:sp>
      <p:pic>
        <p:nvPicPr>
          <p:cNvPr id="5" name="Content Placeholder 4">
            <a:extLst>
              <a:ext uri="{FF2B5EF4-FFF2-40B4-BE49-F238E27FC236}">
                <a16:creationId xmlns:a16="http://schemas.microsoft.com/office/drawing/2014/main" id="{20F93424-EDF0-35E3-33C2-71CEF208DA66}"/>
              </a:ext>
            </a:extLst>
          </p:cNvPr>
          <p:cNvPicPr>
            <a:picLocks noGrp="1" noChangeAspect="1"/>
          </p:cNvPicPr>
          <p:nvPr>
            <p:ph idx="1"/>
          </p:nvPr>
        </p:nvPicPr>
        <p:blipFill>
          <a:blip r:embed="rId2"/>
          <a:stretch>
            <a:fillRect/>
          </a:stretch>
        </p:blipFill>
        <p:spPr>
          <a:xfrm>
            <a:off x="794761" y="1362635"/>
            <a:ext cx="6977639" cy="3397585"/>
          </a:xfrm>
        </p:spPr>
      </p:pic>
      <p:sp>
        <p:nvSpPr>
          <p:cNvPr id="6" name="TextBox 5">
            <a:extLst>
              <a:ext uri="{FF2B5EF4-FFF2-40B4-BE49-F238E27FC236}">
                <a16:creationId xmlns:a16="http://schemas.microsoft.com/office/drawing/2014/main" id="{B0F80678-0CA0-6A3B-368E-A7929AFFBDA8}"/>
              </a:ext>
            </a:extLst>
          </p:cNvPr>
          <p:cNvSpPr txBox="1"/>
          <p:nvPr/>
        </p:nvSpPr>
        <p:spPr>
          <a:xfrm>
            <a:off x="794761" y="4834560"/>
            <a:ext cx="10264527" cy="1200329"/>
          </a:xfrm>
          <a:prstGeom prst="rect">
            <a:avLst/>
          </a:prstGeom>
          <a:noFill/>
        </p:spPr>
        <p:txBody>
          <a:bodyPr wrap="square" rtlCol="0">
            <a:spAutoFit/>
          </a:bodyPr>
          <a:lstStyle/>
          <a:p>
            <a:r>
              <a:rPr lang="en-GB" dirty="0" err="1"/>
              <a:t>WestBengal</a:t>
            </a:r>
            <a:r>
              <a:rPr lang="en-GB" dirty="0"/>
              <a:t> are the largest users of Pit Latrine with 5.1 Million</a:t>
            </a:r>
          </a:p>
          <a:p>
            <a:r>
              <a:rPr lang="en-GB" dirty="0" err="1"/>
              <a:t>UttarPradesh</a:t>
            </a:r>
            <a:r>
              <a:rPr lang="en-GB" dirty="0"/>
              <a:t> are the largest users of other Latrine methods with 5.5 Lakhs</a:t>
            </a:r>
          </a:p>
          <a:p>
            <a:r>
              <a:rPr lang="en-GB" dirty="0"/>
              <a:t>Maharashtra are the largest users of Night Soil with 1.54 Lakhs</a:t>
            </a:r>
          </a:p>
          <a:p>
            <a:r>
              <a:rPr lang="en-GB" dirty="0" err="1"/>
              <a:t>WestBengal</a:t>
            </a:r>
            <a:r>
              <a:rPr lang="en-GB" dirty="0"/>
              <a:t> are the largest users of Flush with 1.2 Million</a:t>
            </a:r>
          </a:p>
        </p:txBody>
      </p:sp>
    </p:spTree>
    <p:extLst>
      <p:ext uri="{BB962C8B-B14F-4D97-AF65-F5344CB8AC3E}">
        <p14:creationId xmlns:p14="http://schemas.microsoft.com/office/powerpoint/2010/main" val="19265469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5A4C3-EA35-C9C2-2FF6-6E7EA44535A5}"/>
              </a:ext>
            </a:extLst>
          </p:cNvPr>
          <p:cNvSpPr>
            <a:spLocks noGrp="1"/>
          </p:cNvSpPr>
          <p:nvPr>
            <p:ph type="title"/>
          </p:nvPr>
        </p:nvSpPr>
        <p:spPr>
          <a:xfrm>
            <a:off x="677334" y="609600"/>
            <a:ext cx="8596668" cy="582706"/>
          </a:xfrm>
        </p:spPr>
        <p:txBody>
          <a:bodyPr>
            <a:normAutofit fontScale="90000"/>
          </a:bodyPr>
          <a:lstStyle/>
          <a:p>
            <a:r>
              <a:rPr lang="en-GB" sz="1800" b="0" i="0" u="none" strike="noStrike" baseline="0" dirty="0">
                <a:solidFill>
                  <a:srgbClr val="0D0D0D"/>
                </a:solidFill>
                <a:latin typeface="ArialMT"/>
              </a:rPr>
              <a:t>How many households have access to drinking water sources near the</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premises in each state?</a:t>
            </a:r>
            <a:endParaRPr lang="en-IN" dirty="0"/>
          </a:p>
        </p:txBody>
      </p:sp>
      <p:pic>
        <p:nvPicPr>
          <p:cNvPr id="5" name="Content Placeholder 4">
            <a:extLst>
              <a:ext uri="{FF2B5EF4-FFF2-40B4-BE49-F238E27FC236}">
                <a16:creationId xmlns:a16="http://schemas.microsoft.com/office/drawing/2014/main" id="{06209BA4-DA29-76CE-5046-E11D03B7EE09}"/>
              </a:ext>
            </a:extLst>
          </p:cNvPr>
          <p:cNvPicPr>
            <a:picLocks noGrp="1" noChangeAspect="1"/>
          </p:cNvPicPr>
          <p:nvPr>
            <p:ph idx="1"/>
          </p:nvPr>
        </p:nvPicPr>
        <p:blipFill>
          <a:blip r:embed="rId2"/>
          <a:stretch>
            <a:fillRect/>
          </a:stretch>
        </p:blipFill>
        <p:spPr>
          <a:xfrm>
            <a:off x="766681" y="1192306"/>
            <a:ext cx="7355343" cy="3639203"/>
          </a:xfrm>
        </p:spPr>
      </p:pic>
      <p:sp>
        <p:nvSpPr>
          <p:cNvPr id="6" name="TextBox 5">
            <a:extLst>
              <a:ext uri="{FF2B5EF4-FFF2-40B4-BE49-F238E27FC236}">
                <a16:creationId xmlns:a16="http://schemas.microsoft.com/office/drawing/2014/main" id="{9C102D55-407A-82C8-43A9-12DC9A8C22DA}"/>
              </a:ext>
            </a:extLst>
          </p:cNvPr>
          <p:cNvSpPr txBox="1"/>
          <p:nvPr/>
        </p:nvSpPr>
        <p:spPr>
          <a:xfrm>
            <a:off x="766681" y="5044883"/>
            <a:ext cx="10264527" cy="1200329"/>
          </a:xfrm>
          <a:prstGeom prst="rect">
            <a:avLst/>
          </a:prstGeom>
          <a:noFill/>
        </p:spPr>
        <p:txBody>
          <a:bodyPr wrap="square" rtlCol="0">
            <a:spAutoFit/>
          </a:bodyPr>
          <a:lstStyle/>
          <a:p>
            <a:r>
              <a:rPr lang="en-GB" dirty="0" err="1"/>
              <a:t>UttarPradesh</a:t>
            </a:r>
            <a:r>
              <a:rPr lang="en-GB" dirty="0"/>
              <a:t> being the largest city with people having drinking water near the premises with 11.5 Million	</a:t>
            </a:r>
          </a:p>
          <a:p>
            <a:endParaRPr lang="en-GB" dirty="0"/>
          </a:p>
          <a:p>
            <a:r>
              <a:rPr lang="en-GB" dirty="0" err="1"/>
              <a:t>Lakshwadeep</a:t>
            </a:r>
            <a:r>
              <a:rPr lang="en-GB" dirty="0"/>
              <a:t> has the lowest people having drinking water near the premises with 1500</a:t>
            </a:r>
          </a:p>
        </p:txBody>
      </p:sp>
    </p:spTree>
    <p:extLst>
      <p:ext uri="{BB962C8B-B14F-4D97-AF65-F5344CB8AC3E}">
        <p14:creationId xmlns:p14="http://schemas.microsoft.com/office/powerpoint/2010/main" val="2537048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C224E-834A-120D-FF2C-79EDCECECC19}"/>
              </a:ext>
            </a:extLst>
          </p:cNvPr>
          <p:cNvSpPr>
            <a:spLocks noGrp="1"/>
          </p:cNvSpPr>
          <p:nvPr>
            <p:ph type="title"/>
          </p:nvPr>
        </p:nvSpPr>
        <p:spPr>
          <a:xfrm>
            <a:off x="677334" y="609600"/>
            <a:ext cx="8596668" cy="744071"/>
          </a:xfrm>
        </p:spPr>
        <p:txBody>
          <a:bodyPr/>
          <a:lstStyle/>
          <a:p>
            <a:r>
              <a:rPr lang="en-GB" sz="1800" b="0" i="0" u="none" strike="noStrike" baseline="0" dirty="0">
                <a:solidFill>
                  <a:srgbClr val="0D0D0D"/>
                </a:solidFill>
                <a:latin typeface="ArialMT"/>
              </a:rPr>
              <a:t>What is the average household income distribution in each state based on the</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power parity categories?</a:t>
            </a:r>
            <a:endParaRPr lang="en-IN" dirty="0"/>
          </a:p>
        </p:txBody>
      </p:sp>
      <p:pic>
        <p:nvPicPr>
          <p:cNvPr id="5" name="Content Placeholder 4">
            <a:extLst>
              <a:ext uri="{FF2B5EF4-FFF2-40B4-BE49-F238E27FC236}">
                <a16:creationId xmlns:a16="http://schemas.microsoft.com/office/drawing/2014/main" id="{FCABB70E-9E36-2871-1F23-AE5850850B4C}"/>
              </a:ext>
            </a:extLst>
          </p:cNvPr>
          <p:cNvPicPr>
            <a:picLocks noGrp="1" noChangeAspect="1"/>
          </p:cNvPicPr>
          <p:nvPr>
            <p:ph idx="1"/>
          </p:nvPr>
        </p:nvPicPr>
        <p:blipFill>
          <a:blip r:embed="rId2"/>
          <a:stretch>
            <a:fillRect/>
          </a:stretch>
        </p:blipFill>
        <p:spPr>
          <a:xfrm>
            <a:off x="827449" y="1353671"/>
            <a:ext cx="7438010" cy="3580105"/>
          </a:xfrm>
        </p:spPr>
      </p:pic>
      <p:sp>
        <p:nvSpPr>
          <p:cNvPr id="6" name="TextBox 5">
            <a:extLst>
              <a:ext uri="{FF2B5EF4-FFF2-40B4-BE49-F238E27FC236}">
                <a16:creationId xmlns:a16="http://schemas.microsoft.com/office/drawing/2014/main" id="{66982A4C-8FBA-3B39-F652-756F4CAD1033}"/>
              </a:ext>
            </a:extLst>
          </p:cNvPr>
          <p:cNvSpPr txBox="1"/>
          <p:nvPr/>
        </p:nvSpPr>
        <p:spPr>
          <a:xfrm>
            <a:off x="677334" y="4933776"/>
            <a:ext cx="11315231" cy="1477328"/>
          </a:xfrm>
          <a:prstGeom prst="rect">
            <a:avLst/>
          </a:prstGeom>
          <a:noFill/>
        </p:spPr>
        <p:txBody>
          <a:bodyPr wrap="square" rtlCol="0">
            <a:spAutoFit/>
          </a:bodyPr>
          <a:lstStyle/>
          <a:p>
            <a:r>
              <a:rPr lang="en-GB" dirty="0" err="1"/>
              <a:t>WestBengal</a:t>
            </a:r>
            <a:r>
              <a:rPr lang="en-GB" dirty="0"/>
              <a:t> has large no. of people with income &lt;45000 - 9.7 Lakhs</a:t>
            </a:r>
          </a:p>
          <a:p>
            <a:r>
              <a:rPr lang="en-GB" dirty="0"/>
              <a:t>Daman and Diu has large no. of people with income between 45000 to 150000 -10 lakhs</a:t>
            </a:r>
          </a:p>
          <a:p>
            <a:r>
              <a:rPr lang="en-GB" dirty="0"/>
              <a:t>Daman and Diu has large no. of people with income between income between 150000 to 330000-6729</a:t>
            </a:r>
          </a:p>
          <a:p>
            <a:r>
              <a:rPr lang="en-GB" dirty="0"/>
              <a:t>Daman and Diu and </a:t>
            </a:r>
            <a:r>
              <a:rPr lang="en-GB" dirty="0" err="1"/>
              <a:t>Chandigargh</a:t>
            </a:r>
            <a:r>
              <a:rPr lang="en-GB" dirty="0"/>
              <a:t> has large no. of people with income between 330000 to 545000 – 7843</a:t>
            </a:r>
          </a:p>
          <a:p>
            <a:r>
              <a:rPr lang="en-GB" dirty="0"/>
              <a:t>Daman and Diu and </a:t>
            </a:r>
            <a:r>
              <a:rPr lang="en-GB" dirty="0" err="1"/>
              <a:t>Chandigargh</a:t>
            </a:r>
            <a:r>
              <a:rPr lang="en-GB" dirty="0"/>
              <a:t> has large no. of people with </a:t>
            </a:r>
            <a:r>
              <a:rPr lang="en-IN" dirty="0"/>
              <a:t>income &gt; 545000</a:t>
            </a:r>
            <a:r>
              <a:rPr lang="en-GB" dirty="0"/>
              <a:t>- 7897</a:t>
            </a:r>
          </a:p>
        </p:txBody>
      </p:sp>
    </p:spTree>
    <p:extLst>
      <p:ext uri="{BB962C8B-B14F-4D97-AF65-F5344CB8AC3E}">
        <p14:creationId xmlns:p14="http://schemas.microsoft.com/office/powerpoint/2010/main" val="3620146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C083F-E6B6-F3D4-7A5A-0823D4FA32B3}"/>
              </a:ext>
            </a:extLst>
          </p:cNvPr>
          <p:cNvSpPr>
            <a:spLocks noGrp="1"/>
          </p:cNvSpPr>
          <p:nvPr>
            <p:ph type="title"/>
          </p:nvPr>
        </p:nvSpPr>
        <p:spPr>
          <a:xfrm>
            <a:off x="677334" y="609600"/>
            <a:ext cx="8596668" cy="842682"/>
          </a:xfrm>
        </p:spPr>
        <p:txBody>
          <a:bodyPr/>
          <a:lstStyle/>
          <a:p>
            <a:r>
              <a:rPr lang="en-GB" sz="1800" b="0" i="0" u="none" strike="noStrike" baseline="0" dirty="0">
                <a:solidFill>
                  <a:srgbClr val="0D0D0D"/>
                </a:solidFill>
                <a:latin typeface="ArialMT"/>
              </a:rPr>
              <a:t>What is the percentage of married couples with different household sizes in</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each state?</a:t>
            </a:r>
            <a:endParaRPr lang="en-IN" dirty="0"/>
          </a:p>
        </p:txBody>
      </p:sp>
      <p:pic>
        <p:nvPicPr>
          <p:cNvPr id="5" name="Content Placeholder 4">
            <a:extLst>
              <a:ext uri="{FF2B5EF4-FFF2-40B4-BE49-F238E27FC236}">
                <a16:creationId xmlns:a16="http://schemas.microsoft.com/office/drawing/2014/main" id="{599BE4CD-E996-D1A9-9001-F4A2CCC3DDC4}"/>
              </a:ext>
            </a:extLst>
          </p:cNvPr>
          <p:cNvPicPr>
            <a:picLocks noGrp="1" noChangeAspect="1"/>
          </p:cNvPicPr>
          <p:nvPr>
            <p:ph idx="1"/>
          </p:nvPr>
        </p:nvPicPr>
        <p:blipFill>
          <a:blip r:embed="rId2"/>
          <a:stretch>
            <a:fillRect/>
          </a:stretch>
        </p:blipFill>
        <p:spPr>
          <a:xfrm>
            <a:off x="778328" y="1452563"/>
            <a:ext cx="7585743" cy="3505683"/>
          </a:xfrm>
        </p:spPr>
      </p:pic>
      <p:sp>
        <p:nvSpPr>
          <p:cNvPr id="6" name="TextBox 5">
            <a:extLst>
              <a:ext uri="{FF2B5EF4-FFF2-40B4-BE49-F238E27FC236}">
                <a16:creationId xmlns:a16="http://schemas.microsoft.com/office/drawing/2014/main" id="{72F2A321-C4A3-121C-E9DB-2F1025478B96}"/>
              </a:ext>
            </a:extLst>
          </p:cNvPr>
          <p:cNvSpPr txBox="1"/>
          <p:nvPr/>
        </p:nvSpPr>
        <p:spPr>
          <a:xfrm>
            <a:off x="766681" y="5044883"/>
            <a:ext cx="10264527" cy="923330"/>
          </a:xfrm>
          <a:prstGeom prst="rect">
            <a:avLst/>
          </a:prstGeom>
          <a:noFill/>
        </p:spPr>
        <p:txBody>
          <a:bodyPr wrap="square" rtlCol="0">
            <a:spAutoFit/>
          </a:bodyPr>
          <a:lstStyle/>
          <a:p>
            <a:r>
              <a:rPr lang="en-GB" dirty="0" err="1"/>
              <a:t>Chandigargh</a:t>
            </a:r>
            <a:r>
              <a:rPr lang="en-GB" dirty="0"/>
              <a:t> has the highest % of married couples with 1 Household -84%</a:t>
            </a:r>
          </a:p>
          <a:p>
            <a:r>
              <a:rPr lang="en-GB" dirty="0"/>
              <a:t>Ladakh has the highest % of married couples with 2 Households -21%</a:t>
            </a:r>
          </a:p>
          <a:p>
            <a:r>
              <a:rPr lang="en-GB" dirty="0"/>
              <a:t>Ladakh has the highest % of married couples with 3 Households -9%</a:t>
            </a:r>
          </a:p>
        </p:txBody>
      </p:sp>
    </p:spTree>
    <p:extLst>
      <p:ext uri="{BB962C8B-B14F-4D97-AF65-F5344CB8AC3E}">
        <p14:creationId xmlns:p14="http://schemas.microsoft.com/office/powerpoint/2010/main" val="815608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9BD03-360D-B9B7-5BE3-E0E32C488FAF}"/>
              </a:ext>
            </a:extLst>
          </p:cNvPr>
          <p:cNvSpPr>
            <a:spLocks noGrp="1"/>
          </p:cNvSpPr>
          <p:nvPr>
            <p:ph type="title"/>
          </p:nvPr>
        </p:nvSpPr>
        <p:spPr>
          <a:xfrm>
            <a:off x="677334" y="609600"/>
            <a:ext cx="8596668" cy="735106"/>
          </a:xfrm>
        </p:spPr>
        <p:txBody>
          <a:bodyPr/>
          <a:lstStyle/>
          <a:p>
            <a:r>
              <a:rPr lang="en-GB" sz="1800" b="0" i="0" u="none" strike="noStrike" baseline="0" dirty="0">
                <a:solidFill>
                  <a:srgbClr val="0D0D0D"/>
                </a:solidFill>
                <a:latin typeface="ArialMT"/>
              </a:rPr>
              <a:t>How many households fall below the poverty line in each state based on the</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power parity categories?</a:t>
            </a:r>
            <a:endParaRPr lang="en-IN" dirty="0"/>
          </a:p>
        </p:txBody>
      </p:sp>
      <p:pic>
        <p:nvPicPr>
          <p:cNvPr id="5" name="Content Placeholder 4">
            <a:extLst>
              <a:ext uri="{FF2B5EF4-FFF2-40B4-BE49-F238E27FC236}">
                <a16:creationId xmlns:a16="http://schemas.microsoft.com/office/drawing/2014/main" id="{770A1198-0A86-9BD4-F093-4A2FBB9167C9}"/>
              </a:ext>
            </a:extLst>
          </p:cNvPr>
          <p:cNvPicPr>
            <a:picLocks noGrp="1" noChangeAspect="1"/>
          </p:cNvPicPr>
          <p:nvPr>
            <p:ph idx="1"/>
          </p:nvPr>
        </p:nvPicPr>
        <p:blipFill>
          <a:blip r:embed="rId2"/>
          <a:stretch>
            <a:fillRect/>
          </a:stretch>
        </p:blipFill>
        <p:spPr>
          <a:xfrm>
            <a:off x="779155" y="1344706"/>
            <a:ext cx="7405621" cy="3650658"/>
          </a:xfrm>
        </p:spPr>
      </p:pic>
      <p:sp>
        <p:nvSpPr>
          <p:cNvPr id="6" name="TextBox 5">
            <a:extLst>
              <a:ext uri="{FF2B5EF4-FFF2-40B4-BE49-F238E27FC236}">
                <a16:creationId xmlns:a16="http://schemas.microsoft.com/office/drawing/2014/main" id="{6960C6C0-9166-BD92-12CA-AECA8E921684}"/>
              </a:ext>
            </a:extLst>
          </p:cNvPr>
          <p:cNvSpPr txBox="1"/>
          <p:nvPr/>
        </p:nvSpPr>
        <p:spPr>
          <a:xfrm>
            <a:off x="766681" y="5044883"/>
            <a:ext cx="10264527" cy="646331"/>
          </a:xfrm>
          <a:prstGeom prst="rect">
            <a:avLst/>
          </a:prstGeom>
          <a:noFill/>
        </p:spPr>
        <p:txBody>
          <a:bodyPr wrap="square" rtlCol="0">
            <a:spAutoFit/>
          </a:bodyPr>
          <a:lstStyle/>
          <a:p>
            <a:r>
              <a:rPr lang="en-GB" dirty="0" err="1"/>
              <a:t>UttarPradesh</a:t>
            </a:r>
            <a:r>
              <a:rPr lang="en-GB" dirty="0"/>
              <a:t> has the highest </a:t>
            </a:r>
            <a:r>
              <a:rPr lang="en-GB" dirty="0" err="1"/>
              <a:t>No.of</a:t>
            </a:r>
            <a:r>
              <a:rPr lang="en-GB" dirty="0"/>
              <a:t> Households below poverty line around 32 Thousand</a:t>
            </a:r>
          </a:p>
          <a:p>
            <a:r>
              <a:rPr lang="en-GB" dirty="0"/>
              <a:t>Ladakh has the highest </a:t>
            </a:r>
            <a:r>
              <a:rPr lang="en-GB" dirty="0" err="1"/>
              <a:t>No.of</a:t>
            </a:r>
            <a:r>
              <a:rPr lang="en-GB" dirty="0"/>
              <a:t> Households below poverty line - 39</a:t>
            </a:r>
          </a:p>
        </p:txBody>
      </p:sp>
    </p:spTree>
    <p:extLst>
      <p:ext uri="{BB962C8B-B14F-4D97-AF65-F5344CB8AC3E}">
        <p14:creationId xmlns:p14="http://schemas.microsoft.com/office/powerpoint/2010/main" val="1893401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FA13-12C3-CF9D-2BCC-87C0DF2DE1E0}"/>
              </a:ext>
            </a:extLst>
          </p:cNvPr>
          <p:cNvSpPr>
            <a:spLocks noGrp="1"/>
          </p:cNvSpPr>
          <p:nvPr>
            <p:ph type="title"/>
          </p:nvPr>
        </p:nvSpPr>
        <p:spPr>
          <a:xfrm>
            <a:off x="677334" y="609600"/>
            <a:ext cx="8596668" cy="573741"/>
          </a:xfrm>
        </p:spPr>
        <p:txBody>
          <a:bodyPr>
            <a:normAutofit fontScale="90000"/>
          </a:bodyPr>
          <a:lstStyle/>
          <a:p>
            <a:r>
              <a:rPr lang="en-GB" sz="1800" b="0" i="0" u="none" strike="noStrike" baseline="0" dirty="0">
                <a:solidFill>
                  <a:srgbClr val="0D0D0D"/>
                </a:solidFill>
                <a:latin typeface="ArialMT"/>
              </a:rPr>
              <a:t>What is the overall literacy rate (percentage of literate population) in each</a:t>
            </a:r>
            <a:br>
              <a:rPr lang="en-GB" sz="1800" b="0" i="0" u="none" strike="noStrike" baseline="0" dirty="0">
                <a:solidFill>
                  <a:srgbClr val="0D0D0D"/>
                </a:solidFill>
                <a:latin typeface="ArialMT"/>
              </a:rPr>
            </a:br>
            <a:r>
              <a:rPr lang="en-IN" sz="1800" b="0" i="0" u="none" strike="noStrike" baseline="0" dirty="0">
                <a:solidFill>
                  <a:srgbClr val="0D0D0D"/>
                </a:solidFill>
                <a:latin typeface="ArialMT"/>
              </a:rPr>
              <a:t>state?</a:t>
            </a:r>
            <a:endParaRPr lang="en-IN" dirty="0"/>
          </a:p>
        </p:txBody>
      </p:sp>
      <p:pic>
        <p:nvPicPr>
          <p:cNvPr id="5" name="Content Placeholder 4">
            <a:extLst>
              <a:ext uri="{FF2B5EF4-FFF2-40B4-BE49-F238E27FC236}">
                <a16:creationId xmlns:a16="http://schemas.microsoft.com/office/drawing/2014/main" id="{2DB8AFEC-9997-FB0E-9BD9-A6B2DBA3B351}"/>
              </a:ext>
            </a:extLst>
          </p:cNvPr>
          <p:cNvPicPr>
            <a:picLocks noGrp="1" noChangeAspect="1"/>
          </p:cNvPicPr>
          <p:nvPr>
            <p:ph idx="1"/>
          </p:nvPr>
        </p:nvPicPr>
        <p:blipFill>
          <a:blip r:embed="rId2"/>
          <a:stretch>
            <a:fillRect/>
          </a:stretch>
        </p:blipFill>
        <p:spPr>
          <a:xfrm>
            <a:off x="1040788" y="1335088"/>
            <a:ext cx="6901941" cy="3403797"/>
          </a:xfrm>
        </p:spPr>
      </p:pic>
      <p:sp>
        <p:nvSpPr>
          <p:cNvPr id="6" name="TextBox 5">
            <a:extLst>
              <a:ext uri="{FF2B5EF4-FFF2-40B4-BE49-F238E27FC236}">
                <a16:creationId xmlns:a16="http://schemas.microsoft.com/office/drawing/2014/main" id="{F2C1A9BB-EAE8-14DD-8612-40A401AC0609}"/>
              </a:ext>
            </a:extLst>
          </p:cNvPr>
          <p:cNvSpPr txBox="1"/>
          <p:nvPr/>
        </p:nvSpPr>
        <p:spPr>
          <a:xfrm>
            <a:off x="1040788" y="4890632"/>
            <a:ext cx="10264527" cy="646331"/>
          </a:xfrm>
          <a:prstGeom prst="rect">
            <a:avLst/>
          </a:prstGeom>
          <a:noFill/>
        </p:spPr>
        <p:txBody>
          <a:bodyPr wrap="square" rtlCol="0">
            <a:spAutoFit/>
          </a:bodyPr>
          <a:lstStyle/>
          <a:p>
            <a:r>
              <a:rPr lang="en-GB" dirty="0"/>
              <a:t>Kerala has the highest literacy rate – 84.2%</a:t>
            </a:r>
          </a:p>
          <a:p>
            <a:r>
              <a:rPr lang="en-GB" dirty="0"/>
              <a:t>Bihar  has the  lowest literacy rate – 50.43%</a:t>
            </a:r>
          </a:p>
        </p:txBody>
      </p:sp>
    </p:spTree>
    <p:extLst>
      <p:ext uri="{BB962C8B-B14F-4D97-AF65-F5344CB8AC3E}">
        <p14:creationId xmlns:p14="http://schemas.microsoft.com/office/powerpoint/2010/main" val="123129124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346</TotalTime>
  <Words>2121</Words>
  <Application>Microsoft Office PowerPoint</Application>
  <PresentationFormat>Widescreen</PresentationFormat>
  <Paragraphs>173</Paragraphs>
  <Slides>34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Arial-BoldMT</vt:lpstr>
      <vt:lpstr>Arial-ItalicMT</vt:lpstr>
      <vt:lpstr>ArialMT</vt:lpstr>
      <vt:lpstr>Roboto-Regular</vt:lpstr>
      <vt:lpstr>Trebuchet MS</vt:lpstr>
      <vt:lpstr>Wingdings 3</vt:lpstr>
      <vt:lpstr>Facet</vt:lpstr>
      <vt:lpstr>Census-2011</vt:lpstr>
      <vt:lpstr>Problem Statement</vt:lpstr>
      <vt:lpstr>Task 1: Rename the Column names</vt:lpstr>
      <vt:lpstr>Task 2: Rename State/UT Names</vt:lpstr>
      <vt:lpstr>Task 4: Find and process Missing Data</vt:lpstr>
      <vt:lpstr>Task 5: Save Data to MongoDB</vt:lpstr>
      <vt:lpstr>Task 6: Database connection and data upload</vt:lpstr>
      <vt:lpstr>Task 7: Run Query on the database and show output on streamlit</vt:lpstr>
      <vt:lpstr>Task 7: Run Query on the database and show output on streamlit</vt:lpstr>
      <vt:lpstr>Tools Used</vt:lpstr>
      <vt:lpstr>Missing Data Before and After</vt:lpstr>
      <vt:lpstr>Missing Data Before and After</vt:lpstr>
      <vt:lpstr>Missing Data Before and After</vt:lpstr>
      <vt:lpstr>Missing Data Before and After</vt:lpstr>
      <vt:lpstr>What is the total population of each district?</vt:lpstr>
      <vt:lpstr>How many literate males and females are there in each district?</vt:lpstr>
      <vt:lpstr>What is the percentage of workers (both male and female) in each district?</vt:lpstr>
      <vt:lpstr>How many households have access to LPG or PNG as a cooking fuel in each district?</vt:lpstr>
      <vt:lpstr>What is the religious composition (Hindus, Muslims, Christians, etc.) of each district?</vt:lpstr>
      <vt:lpstr>How many households have internet access in each district?</vt:lpstr>
      <vt:lpstr>What is the educational attainment distribution (below primary, primary, middle, secondary, etc.) in each district?</vt:lpstr>
      <vt:lpstr>How many households have access to various modes of transportation (bicycle, car, etc.) in each district?</vt:lpstr>
      <vt:lpstr>What is the condition of occupied census houses (dilapidated, with separate kitchen, with bathing facility, with latrine facility, etc.) in each district?</vt:lpstr>
      <vt:lpstr>How is the household size distributed (1 person, 2 persons, 3-5 persons, etc.) in each district?</vt:lpstr>
      <vt:lpstr>What is the total number of households in each state?</vt:lpstr>
      <vt:lpstr>How many households have a latrine facility within the premises in each state?</vt:lpstr>
      <vt:lpstr>What is the average household size in each state?</vt:lpstr>
      <vt:lpstr>How many households are owned versus rented in each state?</vt:lpstr>
      <vt:lpstr>What is the distribution of different types of latrine facilities (pit latrine, flush latrine, etc.) in each state?</vt:lpstr>
      <vt:lpstr>How many households have access to drinking water sources near the premises in each state?</vt:lpstr>
      <vt:lpstr>What is the average household income distribution in each state based on the power parity categories?</vt:lpstr>
      <vt:lpstr>What is the percentage of married couples with different household sizes in each state?</vt:lpstr>
      <vt:lpstr>How many households fall below the poverty line in each state based on the power parity categories?</vt:lpstr>
      <vt:lpstr>What is the overall literacy rate (percentage of literate population) in each 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Census-2011</dc:title>
  <dc:creator>Jai Vignesh PR</dc:creator>
  <cp:lastModifiedBy>Jai Vignesh PR</cp:lastModifiedBy>
  <cp:revision>22</cp:revision>
  <dcterms:created xsi:type="dcterms:W3CDTF">2024-04-24T10:54:38Z</dcterms:created>
  <dcterms:modified xsi:type="dcterms:W3CDTF">2024-04-24T16:41:25Z</dcterms:modified>
</cp:coreProperties>
</file>